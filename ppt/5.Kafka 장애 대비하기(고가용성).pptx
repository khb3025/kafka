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6CF736A1-E72E-43D1-8208-2DEC52AD1D6F}">
          <p14:sldIdLst>
            <p14:sldId id="256"/>
            <p14:sldId id="257"/>
            <p14:sldId id="259"/>
            <p14:sldId id="260"/>
            <p14:sldId id="261"/>
          </p14:sldIdLst>
        </p14:section>
        <p14:section name="카프카 서버 3대 셋팅하기" id="{9B03FB8A-6CA1-494A-8228-7AD5ABEBF80F}">
          <p14:sldIdLst>
            <p14:sldId id="262"/>
            <p14:sldId id="263"/>
          </p14:sldIdLst>
        </p14:section>
        <p14:section name="연동확인하기" id="{A0109870-E738-4972-B20F-8693FFD3C550}">
          <p14:sldIdLst>
            <p14:sldId id="264"/>
            <p14:sldId id="265"/>
          </p14:sldIdLst>
        </p14:section>
        <p14:section name="궁금증 해결하기" id="{4A046BFA-E7C5-4EEA-9724-2FEFB0B3540E}">
          <p14:sldIdLst>
            <p14:sldId id="266"/>
            <p14:sldId id="267"/>
          </p14:sldIdLst>
        </p14:section>
        <p14:section name="리더 파티션 장애 확인하기" id="{0843B918-35C7-4BD0-B47C-D52D0FF7573F}">
          <p14:sldIdLst>
            <p14:sldId id="268"/>
          </p14:sldIdLst>
        </p14:section>
        <p14:section name="적정 Replication 수" id="{96A9A7C6-C28B-4E70-A005-BB175ABE0CF3}">
          <p14:sldIdLst>
            <p14:sldId id="269"/>
          </p14:sldIdLst>
        </p14:section>
        <p14:section name="Springboot에서 레플리케이션 설정" id="{392890CC-99CA-4CBE-89B0-861D4540A7CA}">
          <p14:sldIdLst>
            <p14:sldId id="270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hb" initials="k" lastIdx="1" clrIdx="0">
    <p:extLst>
      <p:ext uri="{19B8F6BF-5375-455C-9EA6-DF929625EA0E}">
        <p15:presenceInfo xmlns:p15="http://schemas.microsoft.com/office/powerpoint/2012/main" userId="khb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8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03410-CB41-4668-B1FF-6B90036A7710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2FE56-C5D2-45B6-9A17-8B45842B9C4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813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03410-CB41-4668-B1FF-6B90036A7710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2FE56-C5D2-45B6-9A17-8B45842B9C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985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03410-CB41-4668-B1FF-6B90036A7710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2FE56-C5D2-45B6-9A17-8B45842B9C4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795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03410-CB41-4668-B1FF-6B90036A7710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2FE56-C5D2-45B6-9A17-8B45842B9C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800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03410-CB41-4668-B1FF-6B90036A7710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2FE56-C5D2-45B6-9A17-8B45842B9C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942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03410-CB41-4668-B1FF-6B90036A7710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2FE56-C5D2-45B6-9A17-8B45842B9C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5340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03410-CB41-4668-B1FF-6B90036A7710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2FE56-C5D2-45B6-9A17-8B45842B9C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9401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8003410-CB41-4668-B1FF-6B90036A7710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C42FE56-C5D2-45B6-9A17-8B45842B9C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672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03410-CB41-4668-B1FF-6B90036A7710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2FE56-C5D2-45B6-9A17-8B45842B9C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306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03410-CB41-4668-B1FF-6B90036A7710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2FE56-C5D2-45B6-9A17-8B45842B9C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696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03410-CB41-4668-B1FF-6B90036A7710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2FE56-C5D2-45B6-9A17-8B45842B9C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470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8003410-CB41-4668-B1FF-6B90036A7710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C42FE56-C5D2-45B6-9A17-8B45842B9C4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084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039761-3941-23AC-CDEA-EBE7B5B827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Kafka </a:t>
            </a:r>
            <a:r>
              <a:rPr lang="ko-KR" altLang="en-US"/>
              <a:t>장애 대비하기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7633216-57FA-7846-9BF8-56683D843E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노드</a:t>
            </a:r>
            <a:r>
              <a:rPr lang="en-US" altLang="ko-KR"/>
              <a:t>, </a:t>
            </a:r>
            <a:r>
              <a:rPr lang="ko-KR" altLang="en-US"/>
              <a:t>브로커</a:t>
            </a:r>
            <a:r>
              <a:rPr lang="en-US" altLang="ko-KR"/>
              <a:t>, </a:t>
            </a:r>
            <a:r>
              <a:rPr lang="ko-KR" altLang="en-US"/>
              <a:t>컨트롤러</a:t>
            </a:r>
            <a:r>
              <a:rPr lang="en-US" altLang="ko-KR"/>
              <a:t>, </a:t>
            </a:r>
            <a:r>
              <a:rPr lang="ko-KR" altLang="en-US"/>
              <a:t>클러스터</a:t>
            </a:r>
            <a:r>
              <a:rPr lang="en-US" altLang="ko-KR"/>
              <a:t>, </a:t>
            </a:r>
            <a:r>
              <a:rPr lang="ko-KR" altLang="en-US"/>
              <a:t>레플리케이션</a:t>
            </a:r>
          </a:p>
        </p:txBody>
      </p:sp>
    </p:spTree>
    <p:extLst>
      <p:ext uri="{BB962C8B-B14F-4D97-AF65-F5344CB8AC3E}">
        <p14:creationId xmlns:p14="http://schemas.microsoft.com/office/powerpoint/2010/main" val="1867608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E8A3D7-D2E5-EFC4-66B9-96D910CE8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노드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68F451-659E-7A26-3351-0250999FE253}"/>
              </a:ext>
            </a:extLst>
          </p:cNvPr>
          <p:cNvSpPr txBox="1"/>
          <p:nvPr/>
        </p:nvSpPr>
        <p:spPr>
          <a:xfrm>
            <a:off x="1225296" y="1892808"/>
            <a:ext cx="9930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Kafka</a:t>
            </a:r>
            <a:r>
              <a:rPr lang="ko-KR" altLang="en-US"/>
              <a:t>가 설치되어있는 서버 단위를 말한다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0308DD1-C3AE-51DF-EAC3-95B63671B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072" y="2733578"/>
            <a:ext cx="9173855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038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2E679-BD27-4E85-D97E-D2ECD48E7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클러스터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F2583E-7B72-F50E-16A7-11C822F161B0}"/>
              </a:ext>
            </a:extLst>
          </p:cNvPr>
          <p:cNvSpPr txBox="1"/>
          <p:nvPr/>
        </p:nvSpPr>
        <p:spPr>
          <a:xfrm>
            <a:off x="1225296" y="1892808"/>
            <a:ext cx="9930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Kafka</a:t>
            </a:r>
            <a:r>
              <a:rPr lang="ko-KR" altLang="en-US"/>
              <a:t>가 설치된 노드가 여러대 묶여 하나의 시스템 처럼 동작하도록 하는 서버 집합을 의미한다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5C7EA36-E55F-494B-BFBB-D5C5176B2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248" y="2417588"/>
            <a:ext cx="7389744" cy="385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738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5093C6-578D-0640-03F0-9930F21FD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브로커와 컨트롤러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1583B0F-5177-A98C-F9F1-C342838B1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743" y="2712215"/>
            <a:ext cx="6412834" cy="33406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0B4313-C72D-A793-5748-F15A50F8A03C}"/>
              </a:ext>
            </a:extLst>
          </p:cNvPr>
          <p:cNvSpPr txBox="1"/>
          <p:nvPr/>
        </p:nvSpPr>
        <p:spPr>
          <a:xfrm>
            <a:off x="1225296" y="1892808"/>
            <a:ext cx="99303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Kafka</a:t>
            </a:r>
            <a:r>
              <a:rPr lang="ko-KR" altLang="en-US" sz="1400"/>
              <a:t> 서버</a:t>
            </a:r>
            <a:r>
              <a:rPr lang="en-US" altLang="ko-KR" sz="1400"/>
              <a:t>(</a:t>
            </a:r>
            <a:r>
              <a:rPr lang="ko-KR" altLang="en-US" sz="1400"/>
              <a:t>노드</a:t>
            </a:r>
            <a:r>
              <a:rPr lang="en-US" altLang="ko-KR" sz="1400"/>
              <a:t>) </a:t>
            </a:r>
            <a:r>
              <a:rPr lang="ko-KR" altLang="en-US" sz="1400"/>
              <a:t>는 브로커 와 컨트롤러로 구성되어있다</a:t>
            </a:r>
            <a:r>
              <a:rPr lang="en-US" altLang="ko-KR" sz="1400"/>
              <a:t>. </a:t>
            </a:r>
          </a:p>
          <a:p>
            <a:r>
              <a:rPr lang="ko-KR" altLang="en-US" sz="1400"/>
              <a:t>브로커 </a:t>
            </a:r>
            <a:r>
              <a:rPr lang="en-US" altLang="ko-KR" sz="1400"/>
              <a:t>: </a:t>
            </a:r>
            <a:r>
              <a:rPr lang="ko-KR" altLang="en-US" sz="1400"/>
              <a:t>메세지를 저장하고 클라이언트의 요청을 처리한다</a:t>
            </a:r>
            <a:r>
              <a:rPr lang="en-US" altLang="ko-KR" sz="1400"/>
              <a:t>. (9092</a:t>
            </a:r>
            <a:r>
              <a:rPr lang="ko-KR" altLang="en-US" sz="1400"/>
              <a:t>포트</a:t>
            </a:r>
            <a:r>
              <a:rPr lang="en-US" altLang="ko-KR" sz="1400"/>
              <a:t>)</a:t>
            </a:r>
          </a:p>
          <a:p>
            <a:r>
              <a:rPr lang="ko-KR" altLang="en-US" sz="1400"/>
              <a:t>컨트롤러</a:t>
            </a:r>
            <a:r>
              <a:rPr lang="en-US" altLang="ko-KR" sz="1400"/>
              <a:t>: </a:t>
            </a:r>
            <a:r>
              <a:rPr lang="ko-KR" altLang="en-US" sz="1400"/>
              <a:t>브로커들간의 연동과 전반적인 클러스터 상태 총괄 </a:t>
            </a:r>
            <a:r>
              <a:rPr lang="en-US" altLang="ko-KR" sz="1400"/>
              <a:t>(9093 </a:t>
            </a:r>
            <a:r>
              <a:rPr lang="ko-KR" altLang="en-US" sz="1400"/>
              <a:t>포트</a:t>
            </a:r>
            <a:r>
              <a:rPr lang="en-US" altLang="ko-KR" sz="1400"/>
              <a:t>)</a:t>
            </a:r>
          </a:p>
          <a:p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637552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C223D7-E5EA-386A-73E4-6D44E92E5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레플리케이션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FD9718-B226-034E-CE1F-CCE8AC1FA699}"/>
              </a:ext>
            </a:extLst>
          </p:cNvPr>
          <p:cNvSpPr txBox="1"/>
          <p:nvPr/>
        </p:nvSpPr>
        <p:spPr>
          <a:xfrm>
            <a:off x="1225296" y="1892808"/>
            <a:ext cx="99303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데이터의 안정성과 가용성을 위해 </a:t>
            </a:r>
            <a:r>
              <a:rPr lang="ko-KR" altLang="en-US" sz="1400" b="1">
                <a:solidFill>
                  <a:srgbClr val="FF0000"/>
                </a:solidFill>
              </a:rPr>
              <a:t>토픽의 파티션</a:t>
            </a:r>
            <a:r>
              <a:rPr lang="ko-KR" altLang="en-US" sz="1400"/>
              <a:t>을 </a:t>
            </a:r>
            <a:r>
              <a:rPr lang="ko-KR" altLang="en-US" sz="1400" b="1">
                <a:solidFill>
                  <a:srgbClr val="FF0000"/>
                </a:solidFill>
              </a:rPr>
              <a:t>다른노드가 복제</a:t>
            </a:r>
            <a:r>
              <a:rPr lang="ko-KR" altLang="en-US" sz="1400"/>
              <a:t>하는 것을 의미한다</a:t>
            </a:r>
            <a:r>
              <a:rPr lang="en-US" altLang="ko-KR" sz="1400"/>
              <a:t>.</a:t>
            </a:r>
          </a:p>
          <a:p>
            <a:r>
              <a:rPr lang="ko-KR" altLang="en-US" sz="1400"/>
              <a:t>원본 파티션을 리더 파티션이라고 부르며 다른노드에서 복제하는 파티션을 팔로우 파티션이라고 한다</a:t>
            </a:r>
            <a:r>
              <a:rPr lang="en-US" altLang="ko-KR" sz="1400"/>
              <a:t>.</a:t>
            </a:r>
          </a:p>
          <a:p>
            <a:r>
              <a:rPr lang="ko-KR" altLang="en-US" sz="1400"/>
              <a:t>원본 파티션에 메세지를 넣는 즉시 복제 파티션에 메세지가 복제된다</a:t>
            </a:r>
            <a:r>
              <a:rPr lang="en-US" altLang="ko-KR" sz="1400"/>
              <a:t>.</a:t>
            </a:r>
          </a:p>
          <a:p>
            <a:r>
              <a:rPr lang="ko-KR" altLang="en-US" sz="1400"/>
              <a:t>메세지의 입력과 처리는 리더 파티션에서만 이루어진다</a:t>
            </a:r>
            <a:r>
              <a:rPr lang="en-US" altLang="ko-KR" sz="1400"/>
              <a:t>. </a:t>
            </a:r>
            <a:r>
              <a:rPr lang="ko-KR" altLang="en-US" sz="1400"/>
              <a:t>리더 </a:t>
            </a:r>
            <a:r>
              <a:rPr lang="ko-KR" altLang="en-US" sz="1400" b="1">
                <a:solidFill>
                  <a:srgbClr val="FF0000"/>
                </a:solidFill>
              </a:rPr>
              <a:t>파티션 장애 시 복제 서버가 리더로 승격</a:t>
            </a:r>
            <a:r>
              <a:rPr lang="ko-KR" altLang="en-US" sz="1400"/>
              <a:t>하여 동작하기에 </a:t>
            </a:r>
            <a:endParaRPr lang="en-US" altLang="ko-KR" sz="1400"/>
          </a:p>
          <a:p>
            <a:r>
              <a:rPr lang="ko-KR" altLang="en-US" sz="1400"/>
              <a:t>장애에 대비할 수 있다</a:t>
            </a:r>
            <a:r>
              <a:rPr lang="en-US" altLang="ko-KR" sz="1400"/>
              <a:t>.</a:t>
            </a:r>
          </a:p>
          <a:p>
            <a:r>
              <a:rPr lang="ko-KR" altLang="en-US" sz="1400"/>
              <a:t>레플리케이션 개수는 </a:t>
            </a:r>
            <a:r>
              <a:rPr lang="en-US" altLang="ko-KR" sz="1400"/>
              <a:t>Kafka </a:t>
            </a:r>
            <a:r>
              <a:rPr lang="ko-KR" altLang="en-US" sz="1400"/>
              <a:t>서버 개수만큼 쓸 수 있지만</a:t>
            </a:r>
            <a:r>
              <a:rPr lang="en-US" altLang="ko-KR" sz="1400"/>
              <a:t>, </a:t>
            </a:r>
            <a:r>
              <a:rPr lang="ko-KR" altLang="en-US" sz="1400"/>
              <a:t>실무에서는 개수를 </a:t>
            </a:r>
            <a:r>
              <a:rPr lang="en-US" altLang="ko-KR" sz="1400"/>
              <a:t>2,3</a:t>
            </a:r>
            <a:r>
              <a:rPr lang="ko-KR" altLang="en-US" sz="1400"/>
              <a:t>으로 설정해서 활용하는 편이다</a:t>
            </a:r>
            <a:r>
              <a:rPr lang="en-US" altLang="ko-KR" sz="1400"/>
              <a:t>.</a:t>
            </a:r>
            <a:endParaRPr lang="ko-KR" altLang="en-US" sz="14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CC3BCD2-6FD1-341D-44B5-AE954ED7C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001" y="3580198"/>
            <a:ext cx="6067831" cy="3179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527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9B2D07-A71D-1E33-E8CD-D306946D4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카프카 서버 </a:t>
            </a:r>
            <a:r>
              <a:rPr lang="en-US" altLang="ko-KR"/>
              <a:t>3</a:t>
            </a:r>
            <a:r>
              <a:rPr lang="ko-KR" altLang="en-US"/>
              <a:t>대 실행시키기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50367B-ADC7-CF4B-E7A5-DBC198A9A7D7}"/>
              </a:ext>
            </a:extLst>
          </p:cNvPr>
          <p:cNvSpPr txBox="1"/>
          <p:nvPr/>
        </p:nvSpPr>
        <p:spPr>
          <a:xfrm>
            <a:off x="1161288" y="1856232"/>
            <a:ext cx="10753344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※ </a:t>
            </a:r>
            <a:r>
              <a:rPr lang="ko-KR" altLang="en-US" sz="1200"/>
              <a:t>실무에선 각 서버별로 </a:t>
            </a:r>
            <a:r>
              <a:rPr lang="en-US" altLang="ko-KR" sz="1200"/>
              <a:t>Kafka</a:t>
            </a:r>
            <a:r>
              <a:rPr lang="ko-KR" altLang="en-US" sz="1200"/>
              <a:t>를 설치하여 설치된 </a:t>
            </a:r>
            <a:r>
              <a:rPr lang="en-US" altLang="ko-KR" sz="1200"/>
              <a:t>Kafka</a:t>
            </a:r>
            <a:r>
              <a:rPr lang="ko-KR" altLang="en-US" sz="1200"/>
              <a:t> 노드를 묶어 클러스터로써 동작시킨다</a:t>
            </a:r>
            <a:r>
              <a:rPr lang="en-US" altLang="ko-KR" sz="1200"/>
              <a:t>.</a:t>
            </a:r>
          </a:p>
          <a:p>
            <a:r>
              <a:rPr lang="en-US" altLang="ko-KR" sz="1200"/>
              <a:t>     </a:t>
            </a:r>
            <a:r>
              <a:rPr lang="ko-KR" altLang="en-US" sz="1200"/>
              <a:t>하지만 교육용 실습을 위해 </a:t>
            </a:r>
            <a:r>
              <a:rPr lang="en-US" altLang="ko-KR" sz="1200"/>
              <a:t>EC2</a:t>
            </a:r>
            <a:r>
              <a:rPr lang="ko-KR" altLang="en-US" sz="1200"/>
              <a:t> 가상환경을 늘린다는건 비용적으로 부담이 되기에 한대의 </a:t>
            </a:r>
            <a:br>
              <a:rPr lang="en-US" altLang="ko-KR" sz="1200"/>
            </a:br>
            <a:r>
              <a:rPr lang="en-US" altLang="ko-KR" sz="1200"/>
              <a:t>     EC2</a:t>
            </a:r>
            <a:r>
              <a:rPr lang="ko-KR" altLang="en-US" sz="1200"/>
              <a:t>서버에서 </a:t>
            </a:r>
            <a:r>
              <a:rPr lang="en-US" altLang="ko-KR" sz="1200"/>
              <a:t>Kafka </a:t>
            </a:r>
            <a:r>
              <a:rPr lang="ko-KR" altLang="en-US" sz="1200"/>
              <a:t>서버를 포트만 변경하여 </a:t>
            </a:r>
            <a:r>
              <a:rPr lang="en-US" altLang="ko-KR" sz="1200"/>
              <a:t>3</a:t>
            </a:r>
            <a:r>
              <a:rPr lang="ko-KR" altLang="en-US" sz="1200"/>
              <a:t>대 실행시킬 것이다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en-US" altLang="ko-KR" sz="1200" b="1">
                <a:solidFill>
                  <a:srgbClr val="0070C0"/>
                </a:solidFill>
              </a:rPr>
              <a:t>1. Kafka </a:t>
            </a:r>
            <a:r>
              <a:rPr lang="ko-KR" altLang="en-US" sz="1200" b="1">
                <a:solidFill>
                  <a:srgbClr val="0070C0"/>
                </a:solidFill>
              </a:rPr>
              <a:t>종료하기</a:t>
            </a:r>
            <a:endParaRPr lang="en-US" altLang="ko-KR" sz="1200" b="1">
              <a:solidFill>
                <a:srgbClr val="0070C0"/>
              </a:solidFill>
            </a:endParaRPr>
          </a:p>
          <a:p>
            <a:r>
              <a:rPr lang="en-US" altLang="ko-KR" sz="1200"/>
              <a:t>~kafka </a:t>
            </a:r>
            <a:r>
              <a:rPr lang="ko-KR" altLang="en-US" sz="1200"/>
              <a:t>폴더 </a:t>
            </a:r>
            <a:r>
              <a:rPr lang="en-US" altLang="ko-KR" sz="1200"/>
              <a:t>&gt; bin/kafka-server-stop.sh</a:t>
            </a:r>
          </a:p>
          <a:p>
            <a:r>
              <a:rPr lang="en-US" altLang="ko-KR" sz="1200" b="1">
                <a:solidFill>
                  <a:srgbClr val="0070C0"/>
                </a:solidFill>
              </a:rPr>
              <a:t>2. Kafka </a:t>
            </a:r>
            <a:r>
              <a:rPr lang="ko-KR" altLang="en-US" sz="1200" b="1">
                <a:solidFill>
                  <a:srgbClr val="0070C0"/>
                </a:solidFill>
              </a:rPr>
              <a:t>설정 수정하기</a:t>
            </a:r>
            <a:r>
              <a:rPr lang="ko-KR" altLang="en-US" sz="1200"/>
              <a:t> </a:t>
            </a:r>
            <a:r>
              <a:rPr lang="en-US" altLang="ko-KR" sz="1200"/>
              <a:t>(</a:t>
            </a:r>
            <a:r>
              <a:rPr lang="en-US" altLang="ko-KR" sz="1200" b="1"/>
              <a:t>server.properties</a:t>
            </a:r>
            <a:r>
              <a:rPr lang="en-US" altLang="ko-KR" sz="1200"/>
              <a:t> </a:t>
            </a:r>
            <a:r>
              <a:rPr lang="ko-KR" altLang="en-US" sz="1200">
                <a:solidFill>
                  <a:srgbClr val="FF0000"/>
                </a:solidFill>
              </a:rPr>
              <a:t>수정</a:t>
            </a:r>
            <a:r>
              <a:rPr lang="en-US" altLang="ko-KR" sz="1200"/>
              <a:t>, </a:t>
            </a:r>
            <a:r>
              <a:rPr lang="en-US" altLang="ko-KR" sz="1200" b="1"/>
              <a:t>server2.properties, server3.properties</a:t>
            </a:r>
            <a:r>
              <a:rPr lang="en-US" altLang="ko-KR" sz="1200"/>
              <a:t> </a:t>
            </a:r>
            <a:r>
              <a:rPr lang="ko-KR" altLang="en-US" sz="1200">
                <a:solidFill>
                  <a:srgbClr val="FF0000"/>
                </a:solidFill>
              </a:rPr>
              <a:t>작성</a:t>
            </a:r>
            <a:r>
              <a:rPr lang="en-US" altLang="ko-KR" sz="1200"/>
              <a:t>)</a:t>
            </a:r>
          </a:p>
          <a:p>
            <a:r>
              <a:rPr lang="en-US" altLang="ko-KR" sz="1200"/>
              <a:t> 	2.1    ~kafka</a:t>
            </a:r>
            <a:r>
              <a:rPr lang="ko-KR" altLang="en-US" sz="1200"/>
              <a:t>폴더 </a:t>
            </a:r>
            <a:r>
              <a:rPr lang="en-US" altLang="ko-KR" sz="1200"/>
              <a:t>&gt; vi config/server.properties (</a:t>
            </a:r>
            <a:r>
              <a:rPr lang="ko-KR" altLang="en-US" sz="1200"/>
              <a:t>각 서버별 </a:t>
            </a:r>
            <a:r>
              <a:rPr lang="en-US" altLang="ko-KR" sz="1200"/>
              <a:t>properties</a:t>
            </a:r>
            <a:r>
              <a:rPr lang="ko-KR" altLang="en-US" sz="1200"/>
              <a:t>에 맞게 정보 수정</a:t>
            </a:r>
            <a:r>
              <a:rPr lang="en-US" altLang="ko-KR" sz="1200"/>
              <a:t>)</a:t>
            </a:r>
          </a:p>
          <a:p>
            <a:r>
              <a:rPr lang="en-US" altLang="ko-KR" sz="1200"/>
              <a:t>            		2.1.1  node.id= [server.properties </a:t>
            </a:r>
            <a:r>
              <a:rPr lang="ko-KR" altLang="en-US" sz="1200"/>
              <a:t>번호</a:t>
            </a:r>
            <a:r>
              <a:rPr lang="en-US" altLang="ko-KR" sz="1200"/>
              <a:t>]</a:t>
            </a:r>
          </a:p>
          <a:p>
            <a:r>
              <a:rPr lang="en-US" altLang="ko-KR" sz="1200"/>
              <a:t>                          2.1.2 controller.quorum.bootstrap.servers= [EC2 Public IP]:9093 , [EC2 Public IP]:19093, [EC2 Public IP]:29093</a:t>
            </a:r>
          </a:p>
          <a:p>
            <a:r>
              <a:rPr lang="en-US" altLang="ko-KR" sz="1200"/>
              <a:t>		2.1.3 listeners=PLAINTEXT://:[server.properties</a:t>
            </a:r>
            <a:r>
              <a:rPr lang="ko-KR" altLang="en-US" sz="1200"/>
              <a:t>별 브로커 </a:t>
            </a:r>
            <a:r>
              <a:rPr lang="en-US" altLang="ko-KR" sz="1200"/>
              <a:t>port],CONTROLLER://:[server.properties</a:t>
            </a:r>
            <a:r>
              <a:rPr lang="ko-KR" altLang="en-US" sz="1200"/>
              <a:t>별 컨트롤러 </a:t>
            </a:r>
            <a:r>
              <a:rPr lang="en-US" altLang="ko-KR" sz="1200"/>
              <a:t>port]</a:t>
            </a:r>
          </a:p>
          <a:p>
            <a:r>
              <a:rPr lang="en-US" altLang="ko-KR" sz="1200"/>
              <a:t>		2.1.4 advertised.listeners=PLAINTEXT://[EC2 Public IP]:[server.properties</a:t>
            </a:r>
            <a:r>
              <a:rPr lang="ko-KR" altLang="en-US" sz="1200"/>
              <a:t>별 브로커 </a:t>
            </a:r>
            <a:r>
              <a:rPr lang="en-US" altLang="ko-KR" sz="1200"/>
              <a:t>port],CONTROLLER://[EC2 Public IP]:[server.properties</a:t>
            </a:r>
            <a:r>
              <a:rPr lang="ko-KR" altLang="en-US" sz="1200"/>
              <a:t>별 컨트롤러 </a:t>
            </a:r>
            <a:r>
              <a:rPr lang="en-US" altLang="ko-KR" sz="1200"/>
              <a:t>port]</a:t>
            </a:r>
          </a:p>
          <a:p>
            <a:r>
              <a:rPr lang="en-US" altLang="ko-KR" sz="1200"/>
              <a:t>		2.1.5 log.dirs.=/tmp/kafka-logs-[server.properties </a:t>
            </a:r>
            <a:r>
              <a:rPr lang="ko-KR" altLang="en-US" sz="1200"/>
              <a:t>번호</a:t>
            </a:r>
            <a:r>
              <a:rPr lang="en-US" altLang="ko-KR" sz="1200"/>
              <a:t>]</a:t>
            </a:r>
          </a:p>
          <a:p>
            <a:r>
              <a:rPr lang="en-US" altLang="ko-KR" sz="1200" b="1">
                <a:solidFill>
                  <a:srgbClr val="0070C0"/>
                </a:solidFill>
              </a:rPr>
              <a:t>3. </a:t>
            </a:r>
            <a:r>
              <a:rPr lang="ko-KR" altLang="en-US" sz="1200" b="1">
                <a:solidFill>
                  <a:srgbClr val="0070C0"/>
                </a:solidFill>
              </a:rPr>
              <a:t>클러스터 설정하기</a:t>
            </a:r>
            <a:endParaRPr lang="en-US" altLang="ko-KR" sz="1200" b="1">
              <a:solidFill>
                <a:srgbClr val="0070C0"/>
              </a:solidFill>
            </a:endParaRPr>
          </a:p>
          <a:p>
            <a:r>
              <a:rPr lang="en-US" altLang="ko-KR" sz="1200" b="1">
                <a:solidFill>
                  <a:srgbClr val="0070C0"/>
                </a:solidFill>
              </a:rPr>
              <a:t>	</a:t>
            </a:r>
            <a:r>
              <a:rPr lang="en-US" altLang="ko-KR" sz="1200"/>
              <a:t>3.1 </a:t>
            </a:r>
            <a:r>
              <a:rPr lang="ko-KR" altLang="en-US" sz="1200"/>
              <a:t>환경 변수 설정</a:t>
            </a:r>
            <a:r>
              <a:rPr lang="en-US" altLang="ko-KR" sz="1200"/>
              <a:t>(</a:t>
            </a:r>
            <a:r>
              <a:rPr lang="ko-KR" altLang="en-US" sz="1200"/>
              <a:t>임시 환경 변수</a:t>
            </a:r>
            <a:r>
              <a:rPr lang="en-US" altLang="ko-KR" sz="1200"/>
              <a:t>)</a:t>
            </a:r>
          </a:p>
          <a:p>
            <a:r>
              <a:rPr lang="en-US" altLang="ko-KR" sz="1200"/>
              <a:t>		KAFKA_CLUSTER_ID="$(bin/kafka-storage.sh random-uuid)"</a:t>
            </a:r>
          </a:p>
          <a:p>
            <a:r>
              <a:rPr lang="en-US" altLang="ko-KR" sz="1200"/>
              <a:t>		KAFKA_CONTROLLER_ID="$(bin/kafka-storage.sh random-uuid)"</a:t>
            </a:r>
          </a:p>
          <a:p>
            <a:r>
              <a:rPr lang="en-US" altLang="ko-KR" sz="1200"/>
              <a:t>	3.2 </a:t>
            </a:r>
            <a:r>
              <a:rPr lang="ko-KR" altLang="en-US" sz="1200"/>
              <a:t>작성한 프로퍼티 클러스터에 연결 </a:t>
            </a:r>
            <a:r>
              <a:rPr lang="en-US" altLang="ko-KR" sz="1200"/>
              <a:t>(~Kafka</a:t>
            </a:r>
            <a:r>
              <a:rPr lang="ko-KR" altLang="en-US" sz="1200"/>
              <a:t>폴더 내 진행</a:t>
            </a:r>
            <a:r>
              <a:rPr lang="en-US" altLang="ko-KR" sz="1200"/>
              <a:t>)</a:t>
            </a:r>
          </a:p>
          <a:p>
            <a:r>
              <a:rPr lang="en-US" altLang="ko-KR" sz="1200"/>
              <a:t>		bin/kafka-storage.sh format -t $KAFKA_CLUSTER_ID -c config/server.properties --initial-controllers "1@localhost:9093:$KAFKA_CONTROLLER_ID"</a:t>
            </a:r>
          </a:p>
          <a:p>
            <a:r>
              <a:rPr lang="en-US" altLang="ko-KR" sz="1200"/>
              <a:t>		bin/kafka-storage.sh format -t $KAFKA_CLUSTER_ID -c config/server2.properties --no-initial-controllers</a:t>
            </a:r>
          </a:p>
          <a:p>
            <a:r>
              <a:rPr lang="en-US" altLang="ko-KR" sz="1200" b="1">
                <a:solidFill>
                  <a:srgbClr val="0070C0"/>
                </a:solidFill>
              </a:rPr>
              <a:t>		</a:t>
            </a:r>
            <a:r>
              <a:rPr lang="en-US" altLang="ko-KR" sz="1200"/>
              <a:t>bin/kafka-storage.sh format -t $KAFKA_CLUSTER_ID -c config/server3.properties --no-initial-controllers</a:t>
            </a:r>
            <a:endParaRPr lang="ko-KR" altLang="en-US" sz="1200" b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659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092709-50D5-96C2-38B0-0B2322B70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카프카 서버 </a:t>
            </a:r>
            <a:r>
              <a:rPr lang="en-US" altLang="ko-KR"/>
              <a:t>3</a:t>
            </a:r>
            <a:r>
              <a:rPr lang="ko-KR" altLang="en-US"/>
              <a:t>대 실행시키기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E45E8B-6F4A-8DC0-94CA-1F73B958D50B}"/>
              </a:ext>
            </a:extLst>
          </p:cNvPr>
          <p:cNvSpPr txBox="1"/>
          <p:nvPr/>
        </p:nvSpPr>
        <p:spPr>
          <a:xfrm>
            <a:off x="1225296" y="1892808"/>
            <a:ext cx="9930384" cy="4416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solidFill>
                  <a:srgbClr val="0070C0"/>
                </a:solidFill>
              </a:rPr>
              <a:t>4. </a:t>
            </a:r>
            <a:r>
              <a:rPr lang="ko-KR" altLang="en-US" sz="1400" b="1">
                <a:solidFill>
                  <a:srgbClr val="0070C0"/>
                </a:solidFill>
              </a:rPr>
              <a:t>서버 </a:t>
            </a:r>
            <a:r>
              <a:rPr lang="en-US" altLang="ko-KR" sz="1400" b="1">
                <a:solidFill>
                  <a:srgbClr val="0070C0"/>
                </a:solidFill>
              </a:rPr>
              <a:t>3</a:t>
            </a:r>
            <a:r>
              <a:rPr lang="ko-KR" altLang="en-US" sz="1400" b="1">
                <a:solidFill>
                  <a:srgbClr val="0070C0"/>
                </a:solidFill>
              </a:rPr>
              <a:t>대 실행</a:t>
            </a:r>
            <a:endParaRPr lang="en-US" altLang="ko-KR" sz="1400"/>
          </a:p>
          <a:p>
            <a:r>
              <a:rPr lang="en-US" altLang="ko-KR" sz="1400"/>
              <a:t>~Kafka</a:t>
            </a:r>
            <a:r>
              <a:rPr lang="ko-KR" altLang="en-US" sz="1400"/>
              <a:t>폴더 </a:t>
            </a:r>
            <a:r>
              <a:rPr lang="en-US" altLang="ko-KR" sz="1400"/>
              <a:t>&gt; bin/kafka-server-start.sh -daemon config/server.properties</a:t>
            </a:r>
          </a:p>
          <a:p>
            <a:r>
              <a:rPr lang="en-US" altLang="ko-KR" sz="1400"/>
              <a:t>~Kafka</a:t>
            </a:r>
            <a:r>
              <a:rPr lang="ko-KR" altLang="en-US" sz="1400"/>
              <a:t>폴더 </a:t>
            </a:r>
            <a:r>
              <a:rPr lang="en-US" altLang="ko-KR" sz="1400"/>
              <a:t>&gt; bin/kafka-server-start.sh -daemon config/server1.properties</a:t>
            </a:r>
            <a:endParaRPr lang="ko-KR" altLang="en-US" sz="1400"/>
          </a:p>
          <a:p>
            <a:r>
              <a:rPr lang="en-US" altLang="ko-KR" sz="1400"/>
              <a:t>~Kafka</a:t>
            </a:r>
            <a:r>
              <a:rPr lang="ko-KR" altLang="en-US" sz="1400"/>
              <a:t>폴더 </a:t>
            </a:r>
            <a:r>
              <a:rPr lang="en-US" altLang="ko-KR" sz="1400"/>
              <a:t>&gt; bin/kafka-server-start.sh -daemon config/server2.properties</a:t>
            </a:r>
            <a:endParaRPr lang="ko-KR" altLang="en-US" sz="1400"/>
          </a:p>
          <a:p>
            <a:endParaRPr lang="en-US" altLang="ko-KR" sz="1400"/>
          </a:p>
          <a:p>
            <a:r>
              <a:rPr lang="ko-KR" altLang="en-US" sz="1400"/>
              <a:t>실행 확인</a:t>
            </a:r>
            <a:endParaRPr lang="en-US" altLang="ko-KR" sz="1400"/>
          </a:p>
          <a:p>
            <a:r>
              <a:rPr lang="en-US" altLang="ko-KR" sz="1400"/>
              <a:t>lsof -i:9092</a:t>
            </a:r>
          </a:p>
          <a:p>
            <a:r>
              <a:rPr lang="en-US" altLang="ko-KR" sz="1400"/>
              <a:t>lsof -i:19092</a:t>
            </a:r>
          </a:p>
          <a:p>
            <a:r>
              <a:rPr lang="en-US" altLang="ko-KR" sz="1400"/>
              <a:t>lsof -i:29092</a:t>
            </a:r>
          </a:p>
          <a:p>
            <a:endParaRPr lang="en-US" altLang="ko-KR" sz="1400"/>
          </a:p>
          <a:p>
            <a:r>
              <a:rPr lang="en-US" altLang="ko-KR" sz="1400"/>
              <a:t>lsof -i:9093</a:t>
            </a:r>
          </a:p>
          <a:p>
            <a:r>
              <a:rPr lang="en-US" altLang="ko-KR" sz="1400"/>
              <a:t>lsof -i:19093</a:t>
            </a:r>
          </a:p>
          <a:p>
            <a:r>
              <a:rPr lang="en-US" altLang="ko-KR" sz="1400"/>
              <a:t>lsof -i:29093</a:t>
            </a:r>
          </a:p>
          <a:p>
            <a:endParaRPr lang="en-US" altLang="ko-KR" sz="1400"/>
          </a:p>
          <a:p>
            <a:r>
              <a:rPr lang="en-US" altLang="ko-KR" sz="1400" b="1">
                <a:solidFill>
                  <a:srgbClr val="0070C0"/>
                </a:solidFill>
              </a:rPr>
              <a:t>5. </a:t>
            </a:r>
            <a:r>
              <a:rPr lang="ko-KR" altLang="en-US" sz="1400" b="1">
                <a:solidFill>
                  <a:srgbClr val="0070C0"/>
                </a:solidFill>
              </a:rPr>
              <a:t>클러스터에 컨트롤러 등록하기</a:t>
            </a:r>
            <a:endParaRPr lang="en-US" altLang="ko-KR" sz="1400" b="1">
              <a:solidFill>
                <a:srgbClr val="0070C0"/>
              </a:solidFill>
            </a:endParaRPr>
          </a:p>
          <a:p>
            <a:r>
              <a:rPr lang="en-US" altLang="ko-KR" sz="1100"/>
              <a:t>	5.1 ~Kafka</a:t>
            </a:r>
            <a:r>
              <a:rPr lang="ko-KR" altLang="en-US" sz="1100"/>
              <a:t>폴더 </a:t>
            </a:r>
            <a:r>
              <a:rPr lang="en-US" altLang="ko-KR" sz="1100"/>
              <a:t>&gt; bin/kafka-metadata-quorum.sh --command-config config/server2.properties --bootstrap-server localhost:9092 add-controller</a:t>
            </a:r>
          </a:p>
          <a:p>
            <a:r>
              <a:rPr lang="en-US" altLang="ko-KR" sz="1100"/>
              <a:t>	5.2</a:t>
            </a:r>
            <a:r>
              <a:rPr lang="en-US" altLang="ko-KR" sz="1400"/>
              <a:t> </a:t>
            </a:r>
            <a:r>
              <a:rPr lang="en-US" altLang="ko-KR" sz="1100"/>
              <a:t>~Kafka</a:t>
            </a:r>
            <a:r>
              <a:rPr lang="ko-KR" altLang="en-US" sz="1100"/>
              <a:t>폴더 </a:t>
            </a:r>
            <a:r>
              <a:rPr lang="en-US" altLang="ko-KR" sz="1100"/>
              <a:t>&gt; bin/kafka-metadata-quorum.sh --command-config config/server3.properties --bootstrap-server localhost:9092 add-controller</a:t>
            </a:r>
            <a:endParaRPr lang="en-US" altLang="ko-KR" sz="1400"/>
          </a:p>
          <a:p>
            <a:endParaRPr lang="en-US" altLang="ko-KR" sz="1400" b="1">
              <a:solidFill>
                <a:srgbClr val="0070C0"/>
              </a:solidFill>
            </a:endParaRPr>
          </a:p>
          <a:p>
            <a:r>
              <a:rPr lang="en-US" altLang="ko-KR" sz="1400" b="1">
                <a:solidFill>
                  <a:srgbClr val="0070C0"/>
                </a:solidFill>
              </a:rPr>
              <a:t>6. </a:t>
            </a:r>
            <a:r>
              <a:rPr lang="ko-KR" altLang="en-US" sz="1400" b="1">
                <a:solidFill>
                  <a:srgbClr val="0070C0"/>
                </a:solidFill>
              </a:rPr>
              <a:t>연동 확인하기</a:t>
            </a:r>
            <a:endParaRPr lang="en-US" altLang="ko-KR" sz="1400" b="1">
              <a:solidFill>
                <a:srgbClr val="0070C0"/>
              </a:solidFill>
            </a:endParaRPr>
          </a:p>
          <a:p>
            <a:r>
              <a:rPr lang="en-US" altLang="ko-KR" sz="1400"/>
              <a:t>~Kafka</a:t>
            </a:r>
            <a:r>
              <a:rPr lang="ko-KR" altLang="en-US" sz="1400"/>
              <a:t>폴더 </a:t>
            </a:r>
            <a:r>
              <a:rPr lang="en-US" altLang="ko-KR" sz="1400"/>
              <a:t>&gt; bin/kafka-metadata-quorum.sh --bootstrap-server localhost:9092 describe --status</a:t>
            </a:r>
            <a:endParaRPr lang="en-US" altLang="ko-KR" sz="1400" b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7689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2C642C-57E9-5C3F-5D6C-A1775768A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연동을 확인하기 전에 </a:t>
            </a:r>
            <a:r>
              <a:rPr lang="en-US" altLang="ko-KR" sz="4000"/>
              <a:t>email.send </a:t>
            </a:r>
            <a:r>
              <a:rPr lang="ko-KR" altLang="en-US" sz="4000"/>
              <a:t>초기화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D508CFC-9D95-9BCF-D893-081FB8C97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40" y="1944406"/>
            <a:ext cx="10774279" cy="39058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2D9D3CB-0EA4-50CB-363F-4B8C84B773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5"/>
          <a:stretch>
            <a:fillRect/>
          </a:stretch>
        </p:blipFill>
        <p:spPr>
          <a:xfrm>
            <a:off x="739339" y="2468880"/>
            <a:ext cx="10774279" cy="21338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9454C3-ED63-95C4-5C73-1730B314FC82}"/>
              </a:ext>
            </a:extLst>
          </p:cNvPr>
          <p:cNvSpPr txBox="1"/>
          <p:nvPr/>
        </p:nvSpPr>
        <p:spPr>
          <a:xfrm>
            <a:off x="739339" y="4700016"/>
            <a:ext cx="10774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현재 </a:t>
            </a:r>
            <a:r>
              <a:rPr lang="en-US" altLang="ko-KR" sz="1200"/>
              <a:t>Kafka </a:t>
            </a:r>
            <a:r>
              <a:rPr lang="ko-KR" altLang="en-US" sz="1200"/>
              <a:t>서버는 깔끔한 상태이다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BE8FCA1-EE68-E8F6-01A9-35103E059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34474"/>
            <a:ext cx="12192000" cy="2069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4801AC4-C7C0-3B6E-FEBB-122CA19317A8}"/>
              </a:ext>
            </a:extLst>
          </p:cNvPr>
          <p:cNvSpPr txBox="1"/>
          <p:nvPr/>
        </p:nvSpPr>
        <p:spPr>
          <a:xfrm>
            <a:off x="0" y="5376672"/>
            <a:ext cx="11009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email.send Topic </a:t>
            </a:r>
            <a:r>
              <a:rPr lang="ko-KR" altLang="en-US"/>
              <a:t>레플리케이션 </a:t>
            </a:r>
            <a:r>
              <a:rPr lang="en-US" altLang="ko-KR"/>
              <a:t>3</a:t>
            </a:r>
            <a:r>
              <a:rPr lang="ko-KR" altLang="en-US"/>
              <a:t>대 설정</a:t>
            </a:r>
          </a:p>
        </p:txBody>
      </p:sp>
    </p:spTree>
    <p:extLst>
      <p:ext uri="{BB962C8B-B14F-4D97-AF65-F5344CB8AC3E}">
        <p14:creationId xmlns:p14="http://schemas.microsoft.com/office/powerpoint/2010/main" val="3056979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B410A2-2394-8DE2-CFBC-F8E887A5A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카프카 서버 </a:t>
            </a:r>
            <a:r>
              <a:rPr lang="en-US" altLang="ko-KR"/>
              <a:t>Topic </a:t>
            </a:r>
            <a:r>
              <a:rPr lang="ko-KR" altLang="en-US"/>
              <a:t>상세 확인하기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D67EE9-FF40-5E11-39D7-8F0FC295F995}"/>
              </a:ext>
            </a:extLst>
          </p:cNvPr>
          <p:cNvSpPr txBox="1"/>
          <p:nvPr/>
        </p:nvSpPr>
        <p:spPr>
          <a:xfrm>
            <a:off x="30480" y="3355848"/>
            <a:ext cx="12021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복제가 되어있음으로 </a:t>
            </a:r>
            <a:r>
              <a:rPr lang="en-US" altLang="ko-KR"/>
              <a:t>9092 </a:t>
            </a:r>
            <a:r>
              <a:rPr lang="ko-KR" altLang="en-US"/>
              <a:t>와 </a:t>
            </a:r>
            <a:r>
              <a:rPr lang="en-US" altLang="ko-KR"/>
              <a:t>19092</a:t>
            </a:r>
            <a:r>
              <a:rPr lang="ko-KR" altLang="en-US"/>
              <a:t>포트로 </a:t>
            </a:r>
            <a:r>
              <a:rPr lang="en-US" altLang="ko-KR"/>
              <a:t>Topic </a:t>
            </a:r>
            <a:r>
              <a:rPr lang="ko-KR" altLang="en-US"/>
              <a:t>상세 조회결과가 동일하게 나온다</a:t>
            </a:r>
            <a:r>
              <a:rPr lang="en-US" altLang="ko-KR"/>
              <a:t>.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E32108C-279C-82CE-B8D8-A9A3D41CD496}"/>
              </a:ext>
            </a:extLst>
          </p:cNvPr>
          <p:cNvGrpSpPr/>
          <p:nvPr/>
        </p:nvGrpSpPr>
        <p:grpSpPr>
          <a:xfrm>
            <a:off x="30480" y="1897070"/>
            <a:ext cx="12192000" cy="466964"/>
            <a:chOff x="30480" y="1897070"/>
            <a:chExt cx="12192000" cy="46696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71A52DA-47D4-53D1-B33E-DBCAD628EE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480" y="1897070"/>
              <a:ext cx="12192000" cy="466964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E1766B9-D947-2BDC-C870-E95B9E37697E}"/>
                </a:ext>
              </a:extLst>
            </p:cNvPr>
            <p:cNvSpPr/>
            <p:nvPr/>
          </p:nvSpPr>
          <p:spPr>
            <a:xfrm>
              <a:off x="1828800" y="1897070"/>
              <a:ext cx="7964424" cy="15646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B591CE0-D40B-9A05-02D8-DB71374AACB8}"/>
              </a:ext>
            </a:extLst>
          </p:cNvPr>
          <p:cNvGrpSpPr/>
          <p:nvPr/>
        </p:nvGrpSpPr>
        <p:grpSpPr>
          <a:xfrm>
            <a:off x="0" y="2680205"/>
            <a:ext cx="12192000" cy="491750"/>
            <a:chOff x="0" y="2680205"/>
            <a:chExt cx="12192000" cy="491750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6C223B8-50F3-AEBD-0D8C-465820E89D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680205"/>
              <a:ext cx="12192000" cy="491750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57B97E1-716E-B2E6-50B5-1606FD1B2136}"/>
                </a:ext>
              </a:extLst>
            </p:cNvPr>
            <p:cNvSpPr/>
            <p:nvPr/>
          </p:nvSpPr>
          <p:spPr>
            <a:xfrm>
              <a:off x="1828800" y="2700720"/>
              <a:ext cx="7964424" cy="15646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8082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CEA3B3-BD4D-647B-8B5B-80889ED79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팔로우 파티션에 메세지 입력시 동작 확인하기</a:t>
            </a:r>
            <a:r>
              <a:rPr lang="en-US" altLang="ko-KR" sz="3600"/>
              <a:t>.</a:t>
            </a:r>
            <a:endParaRPr lang="ko-KR" altLang="en-US" sz="36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8795E89-FD92-0D7A-D82C-667354481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1477"/>
            <a:ext cx="12192000" cy="49814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0240978-5B64-EB13-36E4-009463FD7F7F}"/>
              </a:ext>
            </a:extLst>
          </p:cNvPr>
          <p:cNvSpPr/>
          <p:nvPr/>
        </p:nvSpPr>
        <p:spPr>
          <a:xfrm>
            <a:off x="3611880" y="2130551"/>
            <a:ext cx="786384" cy="2490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FE1966-6CC8-0EBA-E3C0-5D0F0BC5C166}"/>
              </a:ext>
            </a:extLst>
          </p:cNvPr>
          <p:cNvSpPr txBox="1"/>
          <p:nvPr/>
        </p:nvSpPr>
        <p:spPr>
          <a:xfrm>
            <a:off x="2907792" y="2412636"/>
            <a:ext cx="68031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리더 파티션은 </a:t>
            </a:r>
            <a:r>
              <a:rPr lang="en-US" altLang="ko-KR" sz="1100"/>
              <a:t>2</a:t>
            </a:r>
            <a:r>
              <a:rPr lang="ko-KR" altLang="en-US" sz="1100"/>
              <a:t>번 노드에 존재한다</a:t>
            </a:r>
            <a:r>
              <a:rPr lang="en-US" altLang="ko-KR" sz="1100"/>
              <a:t>. (</a:t>
            </a:r>
            <a:r>
              <a:rPr lang="ko-KR" altLang="en-US" sz="1100"/>
              <a:t>리더 파티션 </a:t>
            </a:r>
            <a:r>
              <a:rPr lang="en-US" altLang="ko-KR" sz="1100"/>
              <a:t>: 2</a:t>
            </a:r>
            <a:r>
              <a:rPr lang="ko-KR" altLang="en-US" sz="1100"/>
              <a:t>번 </a:t>
            </a:r>
            <a:r>
              <a:rPr lang="en-US" altLang="ko-KR" sz="1100"/>
              <a:t>/ </a:t>
            </a:r>
            <a:r>
              <a:rPr lang="ko-KR" altLang="en-US" sz="1100"/>
              <a:t>팔로우 파티션 </a:t>
            </a:r>
            <a:r>
              <a:rPr lang="en-US" altLang="ko-KR" sz="1100"/>
              <a:t>1,3 </a:t>
            </a:r>
            <a:r>
              <a:rPr lang="ko-KR" altLang="en-US" sz="1100"/>
              <a:t>번</a:t>
            </a:r>
            <a:r>
              <a:rPr lang="en-US" altLang="ko-KR" sz="1100"/>
              <a:t>)</a:t>
            </a:r>
            <a:endParaRPr lang="ko-KR" altLang="en-US" sz="110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DF5B5E0-BC79-031F-5643-FE8625FAD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" y="3032760"/>
            <a:ext cx="12192000" cy="13411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26732B-EDA5-70A6-7BB1-05935C7AE794}"/>
              </a:ext>
            </a:extLst>
          </p:cNvPr>
          <p:cNvSpPr txBox="1"/>
          <p:nvPr/>
        </p:nvSpPr>
        <p:spPr>
          <a:xfrm>
            <a:off x="91440" y="4553712"/>
            <a:ext cx="11978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200"/>
              <a:t>producer</a:t>
            </a:r>
            <a:r>
              <a:rPr lang="ko-KR" altLang="en-US" sz="1200"/>
              <a:t> 를 통해 </a:t>
            </a:r>
            <a:r>
              <a:rPr lang="en-US" altLang="ko-KR" sz="1200"/>
              <a:t>foller-message-1</a:t>
            </a:r>
            <a:r>
              <a:rPr lang="ko-KR" altLang="en-US" sz="1200"/>
              <a:t>을 팔로우 파티션인 </a:t>
            </a:r>
            <a:r>
              <a:rPr lang="en-US" altLang="ko-KR" sz="1200"/>
              <a:t>29092</a:t>
            </a:r>
            <a:r>
              <a:rPr lang="ko-KR" altLang="en-US" sz="1200"/>
              <a:t>포트 </a:t>
            </a:r>
            <a:r>
              <a:rPr lang="en-US" altLang="ko-KR" sz="1200"/>
              <a:t>(3</a:t>
            </a:r>
            <a:r>
              <a:rPr lang="ko-KR" altLang="en-US" sz="1200"/>
              <a:t>번서버</a:t>
            </a:r>
            <a:r>
              <a:rPr lang="en-US" altLang="ko-KR" sz="1200"/>
              <a:t>) </a:t>
            </a:r>
            <a:r>
              <a:rPr lang="ko-KR" altLang="en-US" sz="1200"/>
              <a:t>에 전달한다</a:t>
            </a:r>
            <a:r>
              <a:rPr lang="en-US" altLang="ko-KR" sz="1200"/>
              <a:t>.</a:t>
            </a:r>
          </a:p>
          <a:p>
            <a:pPr marL="228600" indent="-228600">
              <a:buAutoNum type="arabicPeriod"/>
            </a:pPr>
            <a:r>
              <a:rPr lang="en-US" altLang="ko-KR" sz="1200"/>
              <a:t>consumer</a:t>
            </a:r>
            <a:r>
              <a:rPr lang="ko-KR" altLang="en-US" sz="1200"/>
              <a:t>를 통해 팔로우 파티션인 </a:t>
            </a:r>
            <a:r>
              <a:rPr lang="en-US" altLang="ko-KR" sz="1200"/>
              <a:t>9092</a:t>
            </a:r>
            <a:r>
              <a:rPr lang="ko-KR" altLang="en-US" sz="1200"/>
              <a:t>포트</a:t>
            </a:r>
            <a:r>
              <a:rPr lang="en-US" altLang="ko-KR" sz="1200"/>
              <a:t>(1</a:t>
            </a:r>
            <a:r>
              <a:rPr lang="ko-KR" altLang="en-US" sz="1200"/>
              <a:t>번서버</a:t>
            </a:r>
            <a:r>
              <a:rPr lang="en-US" altLang="ko-KR" sz="1200"/>
              <a:t>)</a:t>
            </a:r>
            <a:r>
              <a:rPr lang="ko-KR" altLang="en-US" sz="1200"/>
              <a:t>에서 </a:t>
            </a:r>
            <a:r>
              <a:rPr lang="en-US" altLang="ko-KR" sz="1200"/>
              <a:t>email.send </a:t>
            </a:r>
            <a:r>
              <a:rPr lang="ko-KR" altLang="en-US" sz="1200"/>
              <a:t>토픽을 확인한다</a:t>
            </a:r>
            <a:r>
              <a:rPr lang="en-US" altLang="ko-KR" sz="1200"/>
              <a:t>.</a:t>
            </a:r>
          </a:p>
          <a:p>
            <a:pPr marL="228600" indent="-228600">
              <a:buAutoNum type="arabicPeriod"/>
            </a:pPr>
            <a:r>
              <a:rPr lang="en-US" altLang="ko-KR" sz="1200"/>
              <a:t>consumer</a:t>
            </a:r>
            <a:r>
              <a:rPr lang="ko-KR" altLang="en-US" sz="1200"/>
              <a:t>를 통해 리더 파티션인 </a:t>
            </a:r>
            <a:r>
              <a:rPr lang="en-US" altLang="ko-KR" sz="1200"/>
              <a:t>19092</a:t>
            </a:r>
            <a:r>
              <a:rPr lang="ko-KR" altLang="en-US" sz="1200"/>
              <a:t>포트</a:t>
            </a:r>
            <a:r>
              <a:rPr lang="en-US" altLang="ko-KR" sz="1200"/>
              <a:t>(2</a:t>
            </a:r>
            <a:r>
              <a:rPr lang="ko-KR" altLang="en-US" sz="1200"/>
              <a:t>번서버</a:t>
            </a:r>
            <a:r>
              <a:rPr lang="en-US" altLang="ko-KR" sz="1200"/>
              <a:t>)</a:t>
            </a:r>
            <a:r>
              <a:rPr lang="ko-KR" altLang="en-US" sz="1200"/>
              <a:t>에서 </a:t>
            </a:r>
            <a:r>
              <a:rPr lang="en-US" altLang="ko-KR" sz="1200"/>
              <a:t>email.send </a:t>
            </a:r>
            <a:r>
              <a:rPr lang="ko-KR" altLang="en-US" sz="1200"/>
              <a:t>토픽을 확인한다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4177164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316A20-507D-9512-7ACC-45B7B314C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설명이랑 다르지 않나</a:t>
            </a:r>
            <a:r>
              <a:rPr lang="en-US" altLang="ko-KR"/>
              <a:t>?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A7CFA-9726-745C-B5FF-21CED7CB33C0}"/>
              </a:ext>
            </a:extLst>
          </p:cNvPr>
          <p:cNvSpPr txBox="1"/>
          <p:nvPr/>
        </p:nvSpPr>
        <p:spPr>
          <a:xfrm>
            <a:off x="1045464" y="1929384"/>
            <a:ext cx="101010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Kafka</a:t>
            </a:r>
            <a:r>
              <a:rPr lang="ko-KR" altLang="en-US"/>
              <a:t>는 </a:t>
            </a:r>
            <a:r>
              <a:rPr lang="ko-KR" altLang="en-US" b="1">
                <a:solidFill>
                  <a:srgbClr val="FF0000"/>
                </a:solidFill>
              </a:rPr>
              <a:t>리더 파티션에서 메세지를 보관하고 처리</a:t>
            </a:r>
            <a:r>
              <a:rPr lang="ko-KR" altLang="en-US"/>
              <a:t>하는 한다고 했다</a:t>
            </a:r>
            <a:r>
              <a:rPr lang="en-US" altLang="ko-KR"/>
              <a:t>.</a:t>
            </a:r>
          </a:p>
          <a:p>
            <a:r>
              <a:rPr lang="ko-KR" altLang="en-US"/>
              <a:t>그런데 </a:t>
            </a:r>
            <a:r>
              <a:rPr lang="ko-KR" altLang="en-US" b="1">
                <a:solidFill>
                  <a:srgbClr val="FF0000"/>
                </a:solidFill>
              </a:rPr>
              <a:t>팔로우 파티션에 메세지를 입력하니 모든 파티션에서 메세지를 확인 가능</a:t>
            </a:r>
            <a:r>
              <a:rPr lang="ko-KR" altLang="en-US"/>
              <a:t>하였다</a:t>
            </a:r>
            <a:r>
              <a:rPr lang="en-US" altLang="ko-KR"/>
              <a:t>.</a:t>
            </a:r>
          </a:p>
          <a:p>
            <a:r>
              <a:rPr lang="ko-KR" altLang="en-US"/>
              <a:t>이건 </a:t>
            </a:r>
            <a:r>
              <a:rPr lang="ko-KR" altLang="en-US" b="1">
                <a:solidFill>
                  <a:srgbClr val="FF0000"/>
                </a:solidFill>
              </a:rPr>
              <a:t>모순</a:t>
            </a:r>
            <a:r>
              <a:rPr lang="ko-KR" altLang="en-US"/>
              <a:t>되는 동작이다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>
                <a:sym typeface="Wingdings" panose="05000000000000000000" pitchFamily="2" charset="2"/>
              </a:rPr>
              <a:t>하지만 이러한 모순적인 동작도 설명이 가능하다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r>
              <a:rPr lang="en-US" altLang="ko-KR">
                <a:sym typeface="Wingdings" panose="05000000000000000000" pitchFamily="2" charset="2"/>
              </a:rPr>
              <a:t>Kafka</a:t>
            </a:r>
            <a:r>
              <a:rPr lang="ko-KR" altLang="en-US">
                <a:sym typeface="Wingdings" panose="05000000000000000000" pitchFamily="2" charset="2"/>
              </a:rPr>
              <a:t> 를 실행시키기전 클러스터를 등록하고 노드들을 하나로 묶었다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r>
              <a:rPr lang="ko-KR" altLang="en-US">
                <a:sym typeface="Wingdings" panose="05000000000000000000" pitchFamily="2" charset="2"/>
              </a:rPr>
              <a:t>메세지가 </a:t>
            </a:r>
            <a:r>
              <a:rPr lang="en-US" altLang="ko-KR">
                <a:sym typeface="Wingdings" panose="05000000000000000000" pitchFamily="2" charset="2"/>
              </a:rPr>
              <a:t>Producer</a:t>
            </a:r>
            <a:r>
              <a:rPr lang="ko-KR" altLang="en-US">
                <a:sym typeface="Wingdings" panose="05000000000000000000" pitchFamily="2" charset="2"/>
              </a:rPr>
              <a:t>에 의해 클러스터로 들어가기전 리더 파티션의 정보를 확인하게된다</a:t>
            </a:r>
            <a:r>
              <a:rPr lang="en-US" altLang="ko-KR">
                <a:sym typeface="Wingdings" panose="05000000000000000000" pitchFamily="2" charset="2"/>
              </a:rPr>
              <a:t>.</a:t>
            </a:r>
            <a:br>
              <a:rPr lang="en-US" altLang="ko-KR">
                <a:sym typeface="Wingdings" panose="05000000000000000000" pitchFamily="2" charset="2"/>
              </a:rPr>
            </a:br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즉 팔로우 파티션 서버로 지정해서 메세지를 전달하여도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r>
              <a:rPr lang="en-US" altLang="ko-KR" b="1">
                <a:solidFill>
                  <a:srgbClr val="FF0000"/>
                </a:solidFill>
                <a:sym typeface="Wingdings" panose="05000000000000000000" pitchFamily="2" charset="2"/>
              </a:rPr>
              <a:t>Producer</a:t>
            </a:r>
            <a:r>
              <a:rPr lang="ko-KR" altLang="en-US" b="1">
                <a:solidFill>
                  <a:srgbClr val="FF0000"/>
                </a:solidFill>
                <a:sym typeface="Wingdings" panose="05000000000000000000" pitchFamily="2" charset="2"/>
              </a:rPr>
              <a:t>에서는 리더 파티션 정보</a:t>
            </a:r>
            <a:r>
              <a:rPr lang="ko-KR" altLang="en-US">
                <a:sym typeface="Wingdings" panose="05000000000000000000" pitchFamily="2" charset="2"/>
              </a:rPr>
              <a:t>를 </a:t>
            </a:r>
            <a:r>
              <a:rPr lang="ko-KR" altLang="en-US" b="1">
                <a:solidFill>
                  <a:srgbClr val="FF0000"/>
                </a:solidFill>
                <a:sym typeface="Wingdings" panose="05000000000000000000" pitchFamily="2" charset="2"/>
              </a:rPr>
              <a:t>확인</a:t>
            </a:r>
            <a:r>
              <a:rPr lang="ko-KR" altLang="en-US">
                <a:sym typeface="Wingdings" panose="05000000000000000000" pitchFamily="2" charset="2"/>
              </a:rPr>
              <a:t>하여 </a:t>
            </a:r>
            <a:r>
              <a:rPr lang="ko-KR" altLang="en-US" b="1">
                <a:solidFill>
                  <a:srgbClr val="FF0000"/>
                </a:solidFill>
                <a:sym typeface="Wingdings" panose="05000000000000000000" pitchFamily="2" charset="2"/>
              </a:rPr>
              <a:t>메세지를 전달</a:t>
            </a:r>
            <a:r>
              <a:rPr lang="ko-KR" altLang="en-US">
                <a:sym typeface="Wingdings" panose="05000000000000000000" pitchFamily="2" charset="2"/>
              </a:rPr>
              <a:t>하기 때문에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r>
              <a:rPr lang="ko-KR" altLang="en-US">
                <a:sym typeface="Wingdings" panose="05000000000000000000" pitchFamily="2" charset="2"/>
              </a:rPr>
              <a:t>실제로는 리더 파티션에서 데이터가 처리된다고 봐야한다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0466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05CAD7-3230-A703-96A4-D0A98CFF9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리더 파티션 장애에 대한 </a:t>
            </a:r>
            <a:r>
              <a:rPr lang="en-US" altLang="ko-KR" sz="3600"/>
              <a:t>Kafka</a:t>
            </a:r>
            <a:r>
              <a:rPr lang="ko-KR" altLang="en-US" sz="3600"/>
              <a:t>의 대응 확인하기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785FBA8-E64D-C9C7-1645-E097E7DA4039}"/>
              </a:ext>
            </a:extLst>
          </p:cNvPr>
          <p:cNvGrpSpPr/>
          <p:nvPr/>
        </p:nvGrpSpPr>
        <p:grpSpPr>
          <a:xfrm>
            <a:off x="0" y="1884297"/>
            <a:ext cx="12192000" cy="782439"/>
            <a:chOff x="0" y="1884297"/>
            <a:chExt cx="12192000" cy="78243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2394C32-00F2-511D-F8A4-0FB5B2A3E5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884297"/>
              <a:ext cx="12192000" cy="455934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75DACCD-D218-4ABB-DD80-5EEE44A19CFA}"/>
                </a:ext>
              </a:extLst>
            </p:cNvPr>
            <p:cNvSpPr txBox="1"/>
            <p:nvPr/>
          </p:nvSpPr>
          <p:spPr>
            <a:xfrm>
              <a:off x="0" y="2389737"/>
              <a:ext cx="66385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/>
                <a:t>현재 리더 파티션 </a:t>
              </a:r>
              <a:r>
                <a:rPr lang="en-US" altLang="ko-KR" sz="1200"/>
                <a:t>2 (Leader </a:t>
              </a:r>
              <a:r>
                <a:rPr lang="ko-KR" altLang="en-US" sz="1200"/>
                <a:t>확인</a:t>
              </a:r>
              <a:r>
                <a:rPr lang="en-US" altLang="ko-KR" sz="1200"/>
                <a:t>)</a:t>
              </a:r>
              <a:endParaRPr lang="ko-KR" altLang="en-US" sz="1200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56D8BF4-8438-4388-AD59-86DAA993B172}"/>
              </a:ext>
            </a:extLst>
          </p:cNvPr>
          <p:cNvGrpSpPr/>
          <p:nvPr/>
        </p:nvGrpSpPr>
        <p:grpSpPr>
          <a:xfrm>
            <a:off x="0" y="2789299"/>
            <a:ext cx="10050278" cy="1637259"/>
            <a:chOff x="0" y="2847356"/>
            <a:chExt cx="10050278" cy="1637259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E4A6C61-22BC-5098-8991-506BB06BC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847356"/>
              <a:ext cx="10050278" cy="1333686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E6364FF-80AD-138C-4566-61B501D9A356}"/>
                </a:ext>
              </a:extLst>
            </p:cNvPr>
            <p:cNvSpPr txBox="1"/>
            <p:nvPr/>
          </p:nvSpPr>
          <p:spPr>
            <a:xfrm>
              <a:off x="0" y="4223005"/>
              <a:ext cx="49103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/>
                <a:t>리더 파티션 노드 종료 </a:t>
              </a:r>
              <a:r>
                <a:rPr lang="en-US" altLang="ko-KR" sz="1100"/>
                <a:t>(</a:t>
              </a:r>
              <a:r>
                <a:rPr lang="ko-KR" altLang="en-US" sz="1100"/>
                <a:t>연결끊김</a:t>
              </a:r>
              <a:r>
                <a:rPr lang="en-US" altLang="ko-KR" sz="1100"/>
                <a:t>:</a:t>
              </a:r>
              <a:r>
                <a:rPr lang="ko-KR" altLang="en-US" sz="1100"/>
                <a:t>장애</a:t>
              </a:r>
              <a:r>
                <a:rPr lang="en-US" altLang="ko-KR" sz="1100"/>
                <a:t>)</a:t>
              </a:r>
              <a:endParaRPr lang="ko-KR" altLang="en-US" sz="1100"/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4736FFCD-D118-76B0-3C60-1FE4A6500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72053"/>
            <a:ext cx="12192000" cy="4559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3CF9531-D39C-E07A-A537-5E1D9A7DC476}"/>
              </a:ext>
            </a:extLst>
          </p:cNvPr>
          <p:cNvSpPr txBox="1"/>
          <p:nvPr/>
        </p:nvSpPr>
        <p:spPr>
          <a:xfrm>
            <a:off x="0" y="5042677"/>
            <a:ext cx="57607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email.send Topic </a:t>
            </a:r>
            <a:r>
              <a:rPr lang="ko-KR" altLang="en-US" sz="1100"/>
              <a:t>상세 확인</a:t>
            </a:r>
            <a:r>
              <a:rPr lang="en-US" altLang="ko-KR" sz="1100"/>
              <a:t>.</a:t>
            </a:r>
            <a:r>
              <a:rPr lang="ko-KR" altLang="en-US" sz="1100"/>
              <a:t> </a:t>
            </a:r>
            <a:r>
              <a:rPr lang="en-US" altLang="ko-KR" sz="1100"/>
              <a:t>( Isr</a:t>
            </a:r>
            <a:r>
              <a:rPr lang="ko-KR" altLang="en-US" sz="1100"/>
              <a:t> </a:t>
            </a:r>
            <a:r>
              <a:rPr lang="en-US" altLang="ko-KR" sz="1100"/>
              <a:t>: </a:t>
            </a:r>
            <a:r>
              <a:rPr lang="ko-KR" altLang="en-US" sz="1100"/>
              <a:t>동기화된 서버 번호 </a:t>
            </a:r>
            <a:r>
              <a:rPr lang="en-US" altLang="ko-KR" sz="1100"/>
              <a:t>- 2</a:t>
            </a:r>
            <a:r>
              <a:rPr lang="ko-KR" altLang="en-US" sz="1100"/>
              <a:t>번 끊김 </a:t>
            </a:r>
            <a:r>
              <a:rPr lang="en-US" altLang="ko-KR" sz="1100"/>
              <a:t>) ( Leader : 3</a:t>
            </a:r>
            <a:r>
              <a:rPr lang="ko-KR" altLang="en-US" sz="1100"/>
              <a:t>번 서버</a:t>
            </a:r>
            <a:r>
              <a:rPr lang="en-US" altLang="ko-KR" sz="1100"/>
              <a:t>[</a:t>
            </a:r>
            <a:r>
              <a:rPr lang="ko-KR" altLang="en-US" sz="1100"/>
              <a:t>승격</a:t>
            </a:r>
            <a:r>
              <a:rPr lang="en-US" altLang="ko-KR" sz="1100"/>
              <a:t>])</a:t>
            </a:r>
            <a:r>
              <a:rPr lang="ko-KR" altLang="en-US" sz="1100"/>
              <a:t> </a:t>
            </a:r>
            <a:endParaRPr lang="en-US" altLang="ko-KR" sz="110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FB0043A-C547-DCF8-8ADD-518D398895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485909"/>
            <a:ext cx="6344535" cy="362001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9D40B5FF-98AE-EF9B-1382-7758C6205A2A}"/>
              </a:ext>
            </a:extLst>
          </p:cNvPr>
          <p:cNvGrpSpPr/>
          <p:nvPr/>
        </p:nvGrpSpPr>
        <p:grpSpPr>
          <a:xfrm>
            <a:off x="0" y="5898727"/>
            <a:ext cx="12192000" cy="685757"/>
            <a:chOff x="0" y="5898727"/>
            <a:chExt cx="12192000" cy="68575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BC4A524-6FD8-2261-2761-9216CFB5AA43}"/>
                </a:ext>
              </a:extLst>
            </p:cNvPr>
            <p:cNvSpPr txBox="1"/>
            <p:nvPr/>
          </p:nvSpPr>
          <p:spPr>
            <a:xfrm>
              <a:off x="0" y="5898727"/>
              <a:ext cx="77815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/>
                <a:t>2</a:t>
              </a:r>
              <a:r>
                <a:rPr lang="ko-KR" altLang="en-US" sz="1100"/>
                <a:t>번 서버를 재시작 후 </a:t>
              </a:r>
              <a:r>
                <a:rPr lang="en-US" altLang="ko-KR" sz="1100"/>
                <a:t>email.send </a:t>
              </a:r>
              <a:r>
                <a:rPr lang="ko-KR" altLang="en-US" sz="1100"/>
                <a:t>토픽 확인하기</a:t>
              </a:r>
              <a:r>
                <a:rPr lang="en-US" altLang="ko-KR" sz="1100"/>
                <a:t>.       </a:t>
              </a:r>
              <a:r>
                <a:rPr lang="en-US" altLang="ko-KR" sz="1100">
                  <a:sym typeface="Wingdings" panose="05000000000000000000" pitchFamily="2" charset="2"/>
                </a:rPr>
                <a:t> 2</a:t>
              </a:r>
              <a:r>
                <a:rPr lang="ko-KR" altLang="en-US" sz="1100">
                  <a:sym typeface="Wingdings" panose="05000000000000000000" pitchFamily="2" charset="2"/>
                </a:rPr>
                <a:t>번 서버 </a:t>
              </a:r>
              <a:r>
                <a:rPr lang="en-US" altLang="ko-KR" sz="1100">
                  <a:sym typeface="Wingdings" panose="05000000000000000000" pitchFamily="2" charset="2"/>
                </a:rPr>
                <a:t>Isr </a:t>
              </a:r>
              <a:r>
                <a:rPr lang="ko-KR" altLang="en-US" sz="1100">
                  <a:sym typeface="Wingdings" panose="05000000000000000000" pitchFamily="2" charset="2"/>
                </a:rPr>
                <a:t>로 재동기화 확인 </a:t>
              </a:r>
              <a:r>
                <a:rPr lang="en-US" altLang="ko-KR" sz="1100">
                  <a:sym typeface="Wingdings" panose="05000000000000000000" pitchFamily="2" charset="2"/>
                </a:rPr>
                <a:t>(</a:t>
              </a:r>
              <a:r>
                <a:rPr lang="ko-KR" altLang="en-US" sz="1100">
                  <a:sym typeface="Wingdings" panose="05000000000000000000" pitchFamily="2" charset="2"/>
                </a:rPr>
                <a:t>메세지 동기화</a:t>
              </a:r>
              <a:r>
                <a:rPr lang="en-US" altLang="ko-KR" sz="1100">
                  <a:sym typeface="Wingdings" panose="05000000000000000000" pitchFamily="2" charset="2"/>
                </a:rPr>
                <a:t>)</a:t>
              </a:r>
              <a:endParaRPr lang="en-US" altLang="ko-KR" sz="1100"/>
            </a:p>
          </p:txBody>
        </p:sp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FC97F8A1-BE8C-203E-9E9F-804118076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6111337"/>
              <a:ext cx="12192000" cy="4731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76055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DDC0D2-A314-483F-CACF-FE7DF2E99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Kafka</a:t>
            </a:r>
            <a:r>
              <a:rPr lang="ko-KR" altLang="en-US"/>
              <a:t>의 적정 레플리케이션 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FD0558-C8AC-BE3D-D093-DC1C2676E66D}"/>
              </a:ext>
            </a:extLst>
          </p:cNvPr>
          <p:cNvSpPr txBox="1"/>
          <p:nvPr/>
        </p:nvSpPr>
        <p:spPr>
          <a:xfrm>
            <a:off x="1088136" y="1956816"/>
            <a:ext cx="100492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스타트업 </a:t>
            </a:r>
            <a:r>
              <a:rPr lang="en-US" altLang="ko-KR" sz="1400"/>
              <a:t>: 1</a:t>
            </a:r>
            <a:r>
              <a:rPr lang="ko-KR" altLang="en-US" sz="1400"/>
              <a:t>대</a:t>
            </a:r>
            <a:endParaRPr lang="en-US" altLang="ko-KR" sz="1400"/>
          </a:p>
          <a:p>
            <a:r>
              <a:rPr lang="ko-KR" altLang="en-US" sz="1400"/>
              <a:t>중견 이상 </a:t>
            </a:r>
            <a:r>
              <a:rPr lang="en-US" altLang="ko-KR" sz="1400"/>
              <a:t>: 3</a:t>
            </a:r>
            <a:r>
              <a:rPr lang="ko-KR" altLang="en-US" sz="1400"/>
              <a:t>대 </a:t>
            </a:r>
            <a:br>
              <a:rPr lang="en-US" altLang="ko-KR" sz="1400"/>
            </a:br>
            <a:r>
              <a:rPr lang="en-US" altLang="ko-KR" sz="1400"/>
              <a:t>                     ( </a:t>
            </a:r>
            <a:r>
              <a:rPr lang="ko-KR" altLang="en-US" sz="1400"/>
              <a:t>서버비용이 감당될 정도의 규모</a:t>
            </a:r>
            <a:r>
              <a:rPr lang="en-US" altLang="ko-KR" sz="1400"/>
              <a:t>, </a:t>
            </a:r>
            <a:r>
              <a:rPr lang="ko-KR" altLang="en-US" sz="1400"/>
              <a:t>서비스가 중단되는게 더 큰 손실을 불러올수 있는 서비스</a:t>
            </a:r>
            <a:r>
              <a:rPr lang="en-US" altLang="ko-KR" sz="1400"/>
              <a:t>)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245038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C6A027-8299-21CB-BE31-B67DE3D0B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application.yml </a:t>
            </a:r>
            <a:r>
              <a:rPr lang="ko-KR" altLang="en-US" sz="4000"/>
              <a:t>에 레플리케이션 주소 설정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5604B45-A436-FAE7-663B-08E86CE2F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551" y="4071851"/>
            <a:ext cx="6368604" cy="2499546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B31E4FF-5BF1-E97B-D5F6-75A4978828B1}"/>
              </a:ext>
            </a:extLst>
          </p:cNvPr>
          <p:cNvGrpSpPr/>
          <p:nvPr/>
        </p:nvGrpSpPr>
        <p:grpSpPr>
          <a:xfrm>
            <a:off x="1165551" y="1876447"/>
            <a:ext cx="6103929" cy="2056317"/>
            <a:chOff x="1165551" y="1876447"/>
            <a:chExt cx="6103929" cy="205631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4276A90-4DEC-8108-836D-D0B936CEB8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5551" y="1876447"/>
              <a:ext cx="6103929" cy="2056317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114AA77-CE2D-EB3D-C9A2-3D2E0B0C82D8}"/>
                </a:ext>
              </a:extLst>
            </p:cNvPr>
            <p:cNvSpPr/>
            <p:nvPr/>
          </p:nvSpPr>
          <p:spPr>
            <a:xfrm>
              <a:off x="2258568" y="2523744"/>
              <a:ext cx="1316736" cy="52120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527FB0DA-65DF-71A5-D65F-776029771E48}"/>
              </a:ext>
            </a:extLst>
          </p:cNvPr>
          <p:cNvSpPr/>
          <p:nvPr/>
        </p:nvSpPr>
        <p:spPr>
          <a:xfrm>
            <a:off x="1752600" y="5271238"/>
            <a:ext cx="1402080" cy="5992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357C15-42FF-9F3F-4EF5-FB982DAA6BE1}"/>
              </a:ext>
            </a:extLst>
          </p:cNvPr>
          <p:cNvSpPr txBox="1"/>
          <p:nvPr/>
        </p:nvSpPr>
        <p:spPr>
          <a:xfrm>
            <a:off x="7534155" y="1876447"/>
            <a:ext cx="46578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프로듀서 및 컨슈머 </a:t>
            </a:r>
            <a:r>
              <a:rPr lang="en-US" altLang="ko-KR" sz="1200"/>
              <a:t>application.yml</a:t>
            </a:r>
            <a:r>
              <a:rPr lang="ko-KR" altLang="en-US" sz="1200"/>
              <a:t>에 레플리케이션 주소 추가</a:t>
            </a:r>
          </a:p>
        </p:txBody>
      </p:sp>
    </p:spTree>
    <p:extLst>
      <p:ext uri="{BB962C8B-B14F-4D97-AF65-F5344CB8AC3E}">
        <p14:creationId xmlns:p14="http://schemas.microsoft.com/office/powerpoint/2010/main" val="2905941156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203</TotalTime>
  <Words>992</Words>
  <Application>Microsoft Office PowerPoint</Application>
  <PresentationFormat>와이드스크린</PresentationFormat>
  <Paragraphs>88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Calibri</vt:lpstr>
      <vt:lpstr>Calibri Light</vt:lpstr>
      <vt:lpstr>Wingdings</vt:lpstr>
      <vt:lpstr>추억</vt:lpstr>
      <vt:lpstr>Kafka 장애 대비하기</vt:lpstr>
      <vt:lpstr>노드</vt:lpstr>
      <vt:lpstr>클러스터</vt:lpstr>
      <vt:lpstr>브로커와 컨트롤러</vt:lpstr>
      <vt:lpstr>레플리케이션</vt:lpstr>
      <vt:lpstr>카프카 서버 3대 실행시키기.</vt:lpstr>
      <vt:lpstr>카프카 서버 3대 실행시키기.</vt:lpstr>
      <vt:lpstr>연동을 확인하기 전에 email.send 초기화</vt:lpstr>
      <vt:lpstr>카프카 서버 Topic 상세 확인하기</vt:lpstr>
      <vt:lpstr>팔로우 파티션에 메세지 입력시 동작 확인하기.</vt:lpstr>
      <vt:lpstr>설명이랑 다르지 않나?</vt:lpstr>
      <vt:lpstr>리더 파티션 장애에 대한 Kafka의 대응 확인하기</vt:lpstr>
      <vt:lpstr>Kafka의 적정 레플리케이션 수</vt:lpstr>
      <vt:lpstr>application.yml 에 레플리케이션 주소 설정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37</cp:revision>
  <dcterms:created xsi:type="dcterms:W3CDTF">2026-08-13T06:35:01Z</dcterms:created>
  <dcterms:modified xsi:type="dcterms:W3CDTF">2026-08-13T09:58:36Z</dcterms:modified>
</cp:coreProperties>
</file>