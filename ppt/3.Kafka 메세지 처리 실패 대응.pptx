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D403DD36-4EE3-421D-AA89-1F6E4511BFCF}">
          <p14:sldIdLst>
            <p14:sldId id="256"/>
          </p14:sldIdLst>
        </p14:section>
        <p14:section name="Kafka 재시도 설정" id="{39D7BD58-6C36-47DD-A078-03D99E65F9BA}">
          <p14:sldIdLst>
            <p14:sldId id="257"/>
            <p14:sldId id="258"/>
            <p14:sldId id="259"/>
          </p14:sldIdLst>
        </p14:section>
        <p14:section name="Kafka DLT(Dead Letter Topic) 설정" id="{CD07FD10-40CA-4B5B-BF85-72CA027CE5D3}">
          <p14:sldIdLst>
            <p14:sldId id="260"/>
            <p14:sldId id="261"/>
            <p14:sldId id="262"/>
          </p14:sldIdLst>
        </p14:section>
        <p14:section name="Kafka DLT 처리하기" id="{3CDC71A7-A5DE-40FD-8C1B-7523E103646D}">
          <p14:sldIdLst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A142-5A9F-4F50-8D54-0E912A0AA4DC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66DE-8642-4676-BDCD-F26CFE5B4BE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8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A142-5A9F-4F50-8D54-0E912A0AA4DC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66DE-8642-4676-BDCD-F26CFE5B4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801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A142-5A9F-4F50-8D54-0E912A0AA4DC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66DE-8642-4676-BDCD-F26CFE5B4BE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548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A142-5A9F-4F50-8D54-0E912A0AA4DC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66DE-8642-4676-BDCD-F26CFE5B4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5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A142-5A9F-4F50-8D54-0E912A0AA4DC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66DE-8642-4676-BDCD-F26CFE5B4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188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A142-5A9F-4F50-8D54-0E912A0AA4DC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66DE-8642-4676-BDCD-F26CFE5B4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8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A142-5A9F-4F50-8D54-0E912A0AA4DC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66DE-8642-4676-BDCD-F26CFE5B4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269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BAEA142-5A9F-4F50-8D54-0E912A0AA4DC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5866DE-8642-4676-BDCD-F26CFE5B4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897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A142-5A9F-4F50-8D54-0E912A0AA4DC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66DE-8642-4676-BDCD-F26CFE5B4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022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A142-5A9F-4F50-8D54-0E912A0AA4DC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66DE-8642-4676-BDCD-F26CFE5B4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541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A142-5A9F-4F50-8D54-0E912A0AA4DC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66DE-8642-4676-BDCD-F26CFE5B4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99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BAEA142-5A9F-4F50-8D54-0E912A0AA4DC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5866DE-8642-4676-BDCD-F26CFE5B4BE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41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D9478-2BCF-427A-C7B5-ABB1C94AB5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5400"/>
              <a:t>Kafka </a:t>
            </a:r>
            <a:r>
              <a:rPr lang="ko-KR" altLang="en-US" sz="5400"/>
              <a:t>메세지 처리 실패 대응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53B49C6-32EC-545D-5E07-7F8BE138E2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380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CCB36-95FA-181E-E8CF-665F27216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Kafka </a:t>
            </a:r>
            <a:r>
              <a:rPr lang="ko-KR" altLang="en-US" sz="3600"/>
              <a:t>메세지 처리 대응을 위한 에러코드 작성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3C07420-0E34-2925-0465-8BEC62232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233" y="1862636"/>
            <a:ext cx="5134253" cy="423575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5E1735A7-9E86-B094-6E7F-84E7D05F6E6E}"/>
              </a:ext>
            </a:extLst>
          </p:cNvPr>
          <p:cNvGrpSpPr/>
          <p:nvPr/>
        </p:nvGrpSpPr>
        <p:grpSpPr>
          <a:xfrm>
            <a:off x="1097280" y="1862636"/>
            <a:ext cx="2486372" cy="3258005"/>
            <a:chOff x="1097280" y="1862636"/>
            <a:chExt cx="2486372" cy="325800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A53E8CD-7520-1C33-5CF3-8729811301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0" y="1862636"/>
              <a:ext cx="2486372" cy="3258005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96C0AA3-BC36-3D2F-FCFA-C70CCB4B997C}"/>
                </a:ext>
              </a:extLst>
            </p:cNvPr>
            <p:cNvSpPr/>
            <p:nvPr/>
          </p:nvSpPr>
          <p:spPr>
            <a:xfrm>
              <a:off x="1380744" y="3566160"/>
              <a:ext cx="1709928" cy="2834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8DE84F3-329B-D74C-C21D-5BD1B6522491}"/>
              </a:ext>
            </a:extLst>
          </p:cNvPr>
          <p:cNvSpPr txBox="1"/>
          <p:nvPr/>
        </p:nvSpPr>
        <p:spPr>
          <a:xfrm>
            <a:off x="8876486" y="1862636"/>
            <a:ext cx="31204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rgbClr val="FF0000"/>
                </a:solidFill>
              </a:rPr>
              <a:t>Consumer</a:t>
            </a:r>
            <a:r>
              <a:rPr lang="ko-KR" altLang="en-US" sz="1200"/>
              <a:t>에서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to : fail@naver.com </a:t>
            </a:r>
            <a:r>
              <a:rPr lang="ko-KR" altLang="en-US" sz="1200"/>
              <a:t>으로 요청이 들어왔을때</a:t>
            </a:r>
            <a:r>
              <a:rPr lang="en-US" altLang="ko-KR" sz="1200"/>
              <a:t>,</a:t>
            </a:r>
          </a:p>
          <a:p>
            <a:r>
              <a:rPr lang="ko-KR" altLang="en-US" sz="1200"/>
              <a:t>실패 </a:t>
            </a:r>
            <a:r>
              <a:rPr lang="en-US" altLang="ko-KR" sz="1200"/>
              <a:t>RuntimeException</a:t>
            </a:r>
            <a:r>
              <a:rPr lang="ko-KR" altLang="en-US" sz="1200"/>
              <a:t>을 발생시키는 코드</a:t>
            </a:r>
            <a:endParaRPr lang="en-US" altLang="ko-KR" sz="1200"/>
          </a:p>
          <a:p>
            <a:r>
              <a:rPr lang="ko-KR" altLang="en-US" sz="1200"/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42308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CF477-B890-0730-43C6-CFE2D2FA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Kafka consumer </a:t>
            </a:r>
            <a:r>
              <a:rPr lang="ko-KR" altLang="en-US" sz="3600"/>
              <a:t>메세지 처리 실패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1987320-B8FC-19C6-6ABB-F85B52885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76" y="1836016"/>
            <a:ext cx="3286584" cy="3057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8062C8-5EC4-4D77-4592-664759655A14}"/>
              </a:ext>
            </a:extLst>
          </p:cNvPr>
          <p:cNvSpPr txBox="1"/>
          <p:nvPr/>
        </p:nvSpPr>
        <p:spPr>
          <a:xfrm>
            <a:off x="320040" y="4974336"/>
            <a:ext cx="3264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프로듀서에서 요청 전송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F3A8899-C240-FA78-8C8C-9A3160B096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426"/>
          <a:stretch>
            <a:fillRect/>
          </a:stretch>
        </p:blipFill>
        <p:spPr>
          <a:xfrm>
            <a:off x="3791107" y="1836016"/>
            <a:ext cx="2487168" cy="36564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3905831-05AD-8596-2876-2EA8150B5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1107" y="5591116"/>
            <a:ext cx="8221222" cy="8192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8A3AAF-56D6-A812-47DD-38B6B1F45902}"/>
              </a:ext>
            </a:extLst>
          </p:cNvPr>
          <p:cNvSpPr txBox="1"/>
          <p:nvPr/>
        </p:nvSpPr>
        <p:spPr>
          <a:xfrm>
            <a:off x="6364224" y="1836016"/>
            <a:ext cx="55077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Consumer Log</a:t>
            </a:r>
            <a:r>
              <a:rPr lang="ko-KR" altLang="en-US" sz="1200"/>
              <a:t>를 살펴보면 장애발생 시</a:t>
            </a:r>
            <a:r>
              <a:rPr lang="en-US" altLang="ko-KR" sz="1200"/>
              <a:t>, </a:t>
            </a:r>
            <a:r>
              <a:rPr lang="ko-KR" altLang="en-US" sz="1200"/>
              <a:t>재시도를 하는것을 확인할 수 있다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@KafkaListener</a:t>
            </a:r>
            <a:r>
              <a:rPr lang="ko-KR" altLang="en-US" sz="1200"/>
              <a:t>로 선언된 메소드는 기본적으로 메세지 처리 실패에 대한 재시도 로직을 기본적으로 적용되어있다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interval = 0  [</a:t>
            </a:r>
            <a:r>
              <a:rPr lang="ko-KR" altLang="en-US" sz="1200"/>
              <a:t>장애 발생시 즉시 재시도</a:t>
            </a:r>
            <a:r>
              <a:rPr lang="en-US" altLang="ko-KR" sz="1200"/>
              <a:t>]</a:t>
            </a:r>
          </a:p>
          <a:p>
            <a:r>
              <a:rPr lang="en-US" altLang="ko-KR" sz="1200"/>
              <a:t>cerrentAttempts = </a:t>
            </a:r>
            <a:r>
              <a:rPr lang="ko-KR" altLang="en-US" sz="1200"/>
              <a:t>현재 시도 횟수</a:t>
            </a:r>
            <a:endParaRPr lang="en-US" altLang="ko-KR" sz="1200"/>
          </a:p>
          <a:p>
            <a:r>
              <a:rPr lang="en-US" altLang="ko-KR" sz="1200"/>
              <a:t>maxAttempts</a:t>
            </a:r>
            <a:r>
              <a:rPr lang="ko-KR" altLang="en-US" sz="1200"/>
              <a:t> </a:t>
            </a:r>
            <a:r>
              <a:rPr lang="en-US" altLang="ko-KR" sz="1200"/>
              <a:t>= </a:t>
            </a:r>
            <a:r>
              <a:rPr lang="ko-KR" altLang="en-US" sz="1200"/>
              <a:t>재시도 횟수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그러나 조금 더 실무적인 재시도 셋팅에 대해 알아보자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1067901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7EB2F0-306E-EE37-16B1-B69D641DB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실무형 재시도 셋팅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831886-6F01-F03A-DEE5-55A0E6A3C7B5}"/>
              </a:ext>
            </a:extLst>
          </p:cNvPr>
          <p:cNvSpPr txBox="1"/>
          <p:nvPr/>
        </p:nvSpPr>
        <p:spPr>
          <a:xfrm>
            <a:off x="395478" y="1574309"/>
            <a:ext cx="5420106" cy="528369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Service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EmailSendConsumer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KafkaListener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topics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"email.send"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"email-send-group"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RetryableTopic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attempts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"5"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재시도 횟수</a:t>
            </a:r>
            <a:endParaRPr lang="ko-KR" altLang="en-US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backOff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BackOff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       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multiplier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2</a:t>
            </a:r>
            <a:r>
              <a:rPr lang="ko-KR" altLang="en-US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배수로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delay </a:t>
            </a:r>
            <a:r>
              <a:rPr lang="ko-KR" altLang="en-US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증가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초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초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ko-KR" altLang="en-US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초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ko-KR" altLang="en-US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초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...</a:t>
            </a:r>
            <a:endParaRPr lang="ko-KR" altLang="en-US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consumer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"Kafka</a:t>
            </a:r>
            <a:r>
              <a:rPr lang="ko-KR" altLang="en-US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로부터 받아온 메시지 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ko-KR" altLang="en-US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fromJson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emailSendMessage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"fail@naver.com"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잘못된 이메일 주소로 인해 발송 실패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RuntimeException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잘못된 이메일 주소로 인해 발송 실패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... </a:t>
            </a:r>
            <a:r>
              <a:rPr lang="ko-KR" altLang="en-US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실제 이메일 발송 로직은 생략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...</a:t>
            </a:r>
            <a:endParaRPr lang="ko-KR" altLang="en-US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/*</a:t>
            </a:r>
            <a:endParaRPr lang="ko-KR" altLang="en-US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try {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        Thread.sleep(10000);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    } catch (InterruptedException e) {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        throw new RuntimeException("</a:t>
            </a:r>
            <a:r>
              <a:rPr lang="ko-KR" altLang="en-US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이메일 발송 실패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");</a:t>
            </a:r>
            <a:endParaRPr lang="ko-KR" altLang="en-US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    *</a:t>
            </a:r>
            <a:r>
              <a:rPr lang="en-US" altLang="ko-KR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</a:t>
            </a:r>
            <a:endParaRPr lang="ko-KR" altLang="en-US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이메일 발송 완료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26BABE-C79E-6A2E-540D-8F70C136E7FA}"/>
              </a:ext>
            </a:extLst>
          </p:cNvPr>
          <p:cNvSpPr txBox="1"/>
          <p:nvPr/>
        </p:nvSpPr>
        <p:spPr>
          <a:xfrm>
            <a:off x="5971032" y="1819656"/>
            <a:ext cx="58254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1. @RetryableTopic </a:t>
            </a:r>
            <a:r>
              <a:rPr lang="ko-KR" altLang="en-US" sz="1200"/>
              <a:t>애노테이션 추가</a:t>
            </a:r>
            <a:endParaRPr lang="en-US" altLang="ko-KR" sz="1200"/>
          </a:p>
          <a:p>
            <a:r>
              <a:rPr lang="en-US" altLang="ko-KR" sz="1200"/>
              <a:t>2. </a:t>
            </a:r>
            <a:r>
              <a:rPr lang="ko-KR" altLang="en-US" sz="1200"/>
              <a:t>재시도 횟수를 </a:t>
            </a:r>
            <a:r>
              <a:rPr lang="en-US" altLang="ko-KR" sz="1200"/>
              <a:t>3~5</a:t>
            </a:r>
            <a:r>
              <a:rPr lang="ko-KR" altLang="en-US" sz="1200"/>
              <a:t>회</a:t>
            </a:r>
            <a:endParaRPr lang="en-US" altLang="ko-KR" sz="1200"/>
          </a:p>
          <a:p>
            <a:r>
              <a:rPr lang="en-US" altLang="ko-KR" sz="1200"/>
              <a:t>3. </a:t>
            </a:r>
            <a:r>
              <a:rPr lang="ko-KR" altLang="en-US" sz="1200"/>
              <a:t>재시도 시 </a:t>
            </a:r>
            <a:r>
              <a:rPr lang="en-US" altLang="ko-KR" sz="1200"/>
              <a:t>2</a:t>
            </a:r>
            <a:r>
              <a:rPr lang="ko-KR" altLang="en-US" sz="1200"/>
              <a:t>배수로 </a:t>
            </a:r>
            <a:r>
              <a:rPr lang="en-US" altLang="ko-KR" sz="1200"/>
              <a:t>delay</a:t>
            </a:r>
          </a:p>
          <a:p>
            <a:endParaRPr lang="en-US" altLang="ko-KR" sz="1200"/>
          </a:p>
          <a:p>
            <a:r>
              <a:rPr lang="en-US" altLang="ko-KR" sz="1200" b="1">
                <a:solidFill>
                  <a:srgbClr val="FF0000"/>
                </a:solidFill>
              </a:rPr>
              <a:t>2</a:t>
            </a:r>
            <a:r>
              <a:rPr lang="ko-KR" altLang="en-US" sz="1200" b="1">
                <a:solidFill>
                  <a:srgbClr val="FF0000"/>
                </a:solidFill>
              </a:rPr>
              <a:t>배수로 </a:t>
            </a:r>
            <a:r>
              <a:rPr lang="en-US" altLang="ko-KR" sz="1200" b="1">
                <a:solidFill>
                  <a:srgbClr val="FF0000"/>
                </a:solidFill>
              </a:rPr>
              <a:t>delay</a:t>
            </a:r>
            <a:r>
              <a:rPr lang="ko-KR" altLang="en-US" sz="1200" b="1">
                <a:solidFill>
                  <a:srgbClr val="FF0000"/>
                </a:solidFill>
              </a:rPr>
              <a:t>하는 이유 </a:t>
            </a:r>
            <a:r>
              <a:rPr lang="en-US" altLang="ko-KR" sz="1200">
                <a:solidFill>
                  <a:srgbClr val="FF0000"/>
                </a:solidFill>
              </a:rPr>
              <a:t>:</a:t>
            </a:r>
            <a:r>
              <a:rPr lang="en-US" altLang="ko-KR" sz="1200"/>
              <a:t> </a:t>
            </a:r>
            <a:r>
              <a:rPr lang="ko-KR" altLang="en-US" sz="1200"/>
              <a:t>일시적인 장애는 빠르게 재시도를 하여 처리가 되도록하며</a:t>
            </a:r>
            <a:r>
              <a:rPr lang="en-US" altLang="ko-KR" sz="1200"/>
              <a:t>,</a:t>
            </a:r>
            <a:br>
              <a:rPr lang="en-US" altLang="ko-KR" sz="1200"/>
            </a:br>
            <a:r>
              <a:rPr lang="ko-KR" altLang="en-US" sz="1200"/>
              <a:t>빠른 재시도 시에도 처리가 되지 않으면 일시적인 장애가 아닌것으로 판단하여</a:t>
            </a:r>
            <a:r>
              <a:rPr lang="en-US" altLang="ko-KR" sz="1200"/>
              <a:t>, delay</a:t>
            </a:r>
            <a:r>
              <a:rPr lang="ko-KR" altLang="en-US" sz="1200"/>
              <a:t>를 점차 늘려나감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Terminal Log : </a:t>
            </a:r>
            <a:r>
              <a:rPr lang="ko-KR" altLang="en-US" sz="1200"/>
              <a:t>재시도 시간이 늘어나는걸 확인할 수 있음</a:t>
            </a:r>
            <a:r>
              <a:rPr lang="en-US" altLang="ko-KR" sz="1200"/>
              <a:t>.</a:t>
            </a:r>
          </a:p>
          <a:p>
            <a:br>
              <a:rPr lang="en-US" altLang="ko-KR" sz="1200"/>
            </a:br>
            <a:r>
              <a:rPr lang="en-US" altLang="ko-KR" sz="1200"/>
              <a:t>                                               </a:t>
            </a:r>
            <a:endParaRPr lang="ko-KR" altLang="en-US" sz="12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57FE1E6-E2DD-1FBF-8045-2B06B0AC9D7A}"/>
              </a:ext>
            </a:extLst>
          </p:cNvPr>
          <p:cNvGrpSpPr/>
          <p:nvPr/>
        </p:nvGrpSpPr>
        <p:grpSpPr>
          <a:xfrm>
            <a:off x="6036238" y="3380890"/>
            <a:ext cx="5058481" cy="3477110"/>
            <a:chOff x="6036238" y="3380890"/>
            <a:chExt cx="5058481" cy="347711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B2F3D79-CA01-8B46-9F1E-0F162A9F7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36238" y="3380890"/>
              <a:ext cx="5058481" cy="3477110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1DF21E6-C1C1-3A8B-32D6-3B25F001E1B6}"/>
                </a:ext>
              </a:extLst>
            </p:cNvPr>
            <p:cNvSpPr/>
            <p:nvPr/>
          </p:nvSpPr>
          <p:spPr>
            <a:xfrm>
              <a:off x="7708392" y="3429000"/>
              <a:ext cx="512064" cy="314239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4221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D0625-10E1-FA64-ED79-D35A6AF2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Dead Letter Topic </a:t>
            </a:r>
            <a:r>
              <a:rPr lang="ko-KR" altLang="en-US"/>
              <a:t>정의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9CA950-55DB-FCF2-2283-28E00D86C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095" y="1783080"/>
            <a:ext cx="8935697" cy="9526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3FAEDB8-6F21-CD6E-1235-136D8E5FE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095" y="2989195"/>
            <a:ext cx="5568177" cy="1511583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32C1E732-05F4-D696-524D-211BC9072098}"/>
              </a:ext>
            </a:extLst>
          </p:cNvPr>
          <p:cNvGrpSpPr/>
          <p:nvPr/>
        </p:nvGrpSpPr>
        <p:grpSpPr>
          <a:xfrm>
            <a:off x="1180095" y="4892358"/>
            <a:ext cx="9069066" cy="895475"/>
            <a:chOff x="1180095" y="4892358"/>
            <a:chExt cx="9069066" cy="89547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93B4BF9-7C19-5580-59DF-4A478F906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0095" y="4892358"/>
              <a:ext cx="9069066" cy="8954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29FD8CD-C39E-8BB4-E084-5CBB88F1C559}"/>
                </a:ext>
              </a:extLst>
            </p:cNvPr>
            <p:cNvSpPr/>
            <p:nvPr/>
          </p:nvSpPr>
          <p:spPr>
            <a:xfrm>
              <a:off x="2770632" y="5230368"/>
              <a:ext cx="5138928" cy="26517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57793D8-BD68-98AD-CCF0-9F3BF0F24158}"/>
              </a:ext>
            </a:extLst>
          </p:cNvPr>
          <p:cNvSpPr txBox="1"/>
          <p:nvPr/>
        </p:nvSpPr>
        <p:spPr>
          <a:xfrm>
            <a:off x="1180095" y="5787833"/>
            <a:ext cx="9069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그러나 실무적으로 </a:t>
            </a:r>
            <a:r>
              <a:rPr lang="en-US" altLang="ko-KR"/>
              <a:t>DLT </a:t>
            </a:r>
            <a:r>
              <a:rPr lang="ko-KR" altLang="en-US"/>
              <a:t>명을 부여하여 관리하는게 관리하기 더 용이함으로 알아보자</a:t>
            </a:r>
          </a:p>
        </p:txBody>
      </p:sp>
    </p:spTree>
    <p:extLst>
      <p:ext uri="{BB962C8B-B14F-4D97-AF65-F5344CB8AC3E}">
        <p14:creationId xmlns:p14="http://schemas.microsoft.com/office/powerpoint/2010/main" val="3946636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3CAA6-D200-3B83-69FA-85766D9E4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@RetryableTopic </a:t>
            </a:r>
            <a:r>
              <a:rPr lang="ko-KR" altLang="en-US"/>
              <a:t>에 </a:t>
            </a:r>
            <a:r>
              <a:rPr lang="en-US" altLang="ko-KR"/>
              <a:t>dltTopicSuffix </a:t>
            </a:r>
            <a:r>
              <a:rPr lang="ko-KR" altLang="en-US"/>
              <a:t>추가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EE3A7ED-592C-EB56-621D-872955B60391}"/>
              </a:ext>
            </a:extLst>
          </p:cNvPr>
          <p:cNvGrpSpPr/>
          <p:nvPr/>
        </p:nvGrpSpPr>
        <p:grpSpPr>
          <a:xfrm>
            <a:off x="1097280" y="1905058"/>
            <a:ext cx="6782747" cy="1895740"/>
            <a:chOff x="1097280" y="1905058"/>
            <a:chExt cx="6782747" cy="189574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51DEFAB-AB8D-37C2-4ACE-7F5231CF0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905058"/>
              <a:ext cx="6782747" cy="189574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FCE032F-6D58-5B64-9C13-A23A4ACA2C7B}"/>
                </a:ext>
              </a:extLst>
            </p:cNvPr>
            <p:cNvSpPr/>
            <p:nvPr/>
          </p:nvSpPr>
          <p:spPr>
            <a:xfrm>
              <a:off x="2075688" y="3364992"/>
              <a:ext cx="1856232" cy="26517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1153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97062-D443-6AEF-7F5E-257CAB59E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에러 발생 후 </a:t>
            </a:r>
            <a:r>
              <a:rPr lang="en-US" altLang="ko-KR"/>
              <a:t>Kafka Topic </a:t>
            </a:r>
            <a:r>
              <a:rPr lang="ko-KR" altLang="en-US"/>
              <a:t>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A492AB-3CCF-72E6-B56E-CE8336CD1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196" y="1972379"/>
            <a:ext cx="2829320" cy="35533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FE35333-AFCE-94C4-9FEC-28D87529A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854" y="1972379"/>
            <a:ext cx="7724159" cy="13011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D3E357-D4D2-8FD6-9099-83BA3FE9AB0C}"/>
              </a:ext>
            </a:extLst>
          </p:cNvPr>
          <p:cNvSpPr txBox="1"/>
          <p:nvPr/>
        </p:nvSpPr>
        <p:spPr>
          <a:xfrm>
            <a:off x="4191854" y="3429000"/>
            <a:ext cx="77241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email.send.dlt </a:t>
            </a:r>
            <a:r>
              <a:rPr lang="en-US" altLang="ko-KR" sz="1400">
                <a:sym typeface="Wingdings" panose="05000000000000000000" pitchFamily="2" charset="2"/>
              </a:rPr>
              <a:t> @RetryableTopic</a:t>
            </a:r>
            <a:r>
              <a:rPr lang="ko-KR" altLang="en-US" sz="1400">
                <a:sym typeface="Wingdings" panose="05000000000000000000" pitchFamily="2" charset="2"/>
              </a:rPr>
              <a:t>에 </a:t>
            </a:r>
            <a:r>
              <a:rPr lang="en-US" altLang="ko-KR" sz="1400">
                <a:sym typeface="Wingdings" panose="05000000000000000000" pitchFamily="2" charset="2"/>
              </a:rPr>
              <a:t>dltTopicSuffix </a:t>
            </a:r>
            <a:r>
              <a:rPr lang="ko-KR" altLang="en-US" sz="1400">
                <a:sym typeface="Wingdings" panose="05000000000000000000" pitchFamily="2" charset="2"/>
              </a:rPr>
              <a:t>적용 후 실패 저장</a:t>
            </a:r>
            <a:endParaRPr lang="en-US" altLang="ko-KR" sz="1400">
              <a:sym typeface="Wingdings" panose="05000000000000000000" pitchFamily="2" charset="2"/>
            </a:endParaRPr>
          </a:p>
          <a:p>
            <a:r>
              <a:rPr lang="en-US" altLang="ko-KR" sz="1400">
                <a:sym typeface="Wingdings" panose="05000000000000000000" pitchFamily="2" charset="2"/>
              </a:rPr>
              <a:t>email.send-retry-1000 ... 8000  </a:t>
            </a:r>
            <a:r>
              <a:rPr lang="ko-KR" altLang="en-US" sz="1400">
                <a:sym typeface="Wingdings" panose="05000000000000000000" pitchFamily="2" charset="2"/>
              </a:rPr>
              <a:t>인터벌로 실패한 메세지</a:t>
            </a:r>
            <a:endParaRPr lang="en-US" altLang="ko-KR" sz="1400">
              <a:sym typeface="Wingdings" panose="05000000000000000000" pitchFamily="2" charset="2"/>
            </a:endParaRPr>
          </a:p>
          <a:p>
            <a:r>
              <a:rPr lang="en-US" altLang="ko-KR" sz="1400">
                <a:sym typeface="Wingdings" panose="05000000000000000000" pitchFamily="2" charset="2"/>
              </a:rPr>
              <a:t>email.send-dlt  dltTopicSuffix </a:t>
            </a:r>
            <a:r>
              <a:rPr lang="ko-KR" altLang="en-US" sz="1400">
                <a:sym typeface="Wingdings" panose="05000000000000000000" pitchFamily="2" charset="2"/>
              </a:rPr>
              <a:t>설정 전 실패 메세지</a:t>
            </a:r>
            <a:endParaRPr lang="en-US" altLang="ko-KR" sz="1400">
              <a:sym typeface="Wingdings" panose="05000000000000000000" pitchFamily="2" charset="2"/>
            </a:endParaRPr>
          </a:p>
          <a:p>
            <a:endParaRPr lang="en-US" altLang="ko-KR" sz="1400">
              <a:sym typeface="Wingdings" panose="05000000000000000000" pitchFamily="2" charset="2"/>
            </a:endParaRPr>
          </a:p>
          <a:p>
            <a:endParaRPr lang="en-US" altLang="ko-KR" sz="1400">
              <a:sym typeface="Wingdings" panose="05000000000000000000" pitchFamily="2" charset="2"/>
            </a:endParaRPr>
          </a:p>
          <a:p>
            <a:endParaRPr lang="ko-KR" altLang="en-US" sz="14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DF471F-CCAF-3073-A836-366311FED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33" y="5932369"/>
            <a:ext cx="11885533" cy="3784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CB6030-954B-AFCF-DE94-B70752B2052A}"/>
              </a:ext>
            </a:extLst>
          </p:cNvPr>
          <p:cNvSpPr txBox="1"/>
          <p:nvPr/>
        </p:nvSpPr>
        <p:spPr>
          <a:xfrm>
            <a:off x="50292" y="5606830"/>
            <a:ext cx="2093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>
                <a:sym typeface="Wingdings" panose="05000000000000000000" pitchFamily="2" charset="2"/>
              </a:rPr>
              <a:t>실패한 메세지 상세 확인</a:t>
            </a:r>
            <a:endParaRPr lang="en-US" altLang="ko-KR" sz="140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80922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765E3-2250-52E6-E287-5783890E8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현업에서의 실패메세지 사후 처리 방법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2E2F8DD-72CF-7A3C-E52C-7387074BDD8D}"/>
              </a:ext>
            </a:extLst>
          </p:cNvPr>
          <p:cNvGrpSpPr/>
          <p:nvPr/>
        </p:nvGrpSpPr>
        <p:grpSpPr>
          <a:xfrm>
            <a:off x="1097280" y="1825406"/>
            <a:ext cx="9088118" cy="2219635"/>
            <a:chOff x="1097280" y="1825406"/>
            <a:chExt cx="9088118" cy="221963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6D1A9DC-1242-406B-475D-E9EB63B99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25406"/>
              <a:ext cx="9088118" cy="2219635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71E09DE-0550-7957-5321-254838FA4728}"/>
                </a:ext>
              </a:extLst>
            </p:cNvPr>
            <p:cNvSpPr/>
            <p:nvPr/>
          </p:nvSpPr>
          <p:spPr>
            <a:xfrm>
              <a:off x="3410712" y="3108960"/>
              <a:ext cx="786384" cy="320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895BD82-C756-5767-D935-B79435D42712}"/>
                </a:ext>
              </a:extLst>
            </p:cNvPr>
            <p:cNvSpPr/>
            <p:nvPr/>
          </p:nvSpPr>
          <p:spPr>
            <a:xfrm>
              <a:off x="4770120" y="3108960"/>
              <a:ext cx="1118616" cy="320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B39206D-A9DD-1E38-2DC4-86563F39278A}"/>
                </a:ext>
              </a:extLst>
            </p:cNvPr>
            <p:cNvSpPr/>
            <p:nvPr/>
          </p:nvSpPr>
          <p:spPr>
            <a:xfrm>
              <a:off x="2651760" y="3429000"/>
              <a:ext cx="2724912" cy="3474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A958097-980E-9671-9DEF-DC887566A37E}"/>
                </a:ext>
              </a:extLst>
            </p:cNvPr>
            <p:cNvSpPr/>
            <p:nvPr/>
          </p:nvSpPr>
          <p:spPr>
            <a:xfrm>
              <a:off x="2940810" y="3776472"/>
              <a:ext cx="5133341" cy="26856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58191FD-CC3A-5B2B-0BBF-764CCE6EF866}"/>
              </a:ext>
            </a:extLst>
          </p:cNvPr>
          <p:cNvSpPr txBox="1"/>
          <p:nvPr/>
        </p:nvSpPr>
        <p:spPr>
          <a:xfrm>
            <a:off x="667512" y="4334256"/>
            <a:ext cx="4407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메세지를 수동으로 처리하는 방법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F023A2C-2BC6-F484-2AE1-D75D7B3B5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27" y="4626405"/>
            <a:ext cx="3143689" cy="6096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0FCCF50-ECB6-866C-C0BA-966E00CB8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096" y="4626405"/>
            <a:ext cx="7553900" cy="6096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2E9FD93-DDD9-2510-7059-E9E686F311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827" y="5413169"/>
            <a:ext cx="5982535" cy="6287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87171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265036-EF0B-D82A-5404-7F3B1879F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DLT consumer  </a:t>
            </a:r>
            <a:r>
              <a:rPr lang="ko-KR" altLang="en-US"/>
              <a:t>작성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6F87A07-ECEE-60B3-F5D3-5B26C62AE227}"/>
              </a:ext>
            </a:extLst>
          </p:cNvPr>
          <p:cNvGrpSpPr/>
          <p:nvPr/>
        </p:nvGrpSpPr>
        <p:grpSpPr>
          <a:xfrm>
            <a:off x="745804" y="1962295"/>
            <a:ext cx="2781688" cy="3372321"/>
            <a:chOff x="745804" y="1962295"/>
            <a:chExt cx="2781688" cy="337232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9C1A263-AD7D-8D0E-ED8D-57CB3D5D6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5804" y="1962295"/>
              <a:ext cx="2781688" cy="337232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BE4CAD8-1151-736A-8747-86614C975588}"/>
                </a:ext>
              </a:extLst>
            </p:cNvPr>
            <p:cNvSpPr/>
            <p:nvPr/>
          </p:nvSpPr>
          <p:spPr>
            <a:xfrm>
              <a:off x="1097280" y="4050792"/>
              <a:ext cx="1746504" cy="2377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E16089C-24F9-E30A-E945-84DF29D41550}"/>
              </a:ext>
            </a:extLst>
          </p:cNvPr>
          <p:cNvSpPr txBox="1"/>
          <p:nvPr/>
        </p:nvSpPr>
        <p:spPr>
          <a:xfrm>
            <a:off x="3721802" y="1962295"/>
            <a:ext cx="4942708" cy="40421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Service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EmailSendDltConsumer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EmailSendDltConsumer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kafkaTemplate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KafkaListener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topics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"email.send.dlt"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"email-send-dlt-group"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consume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로그 시스템에 전송</a:t>
            </a:r>
            <a:endParaRPr lang="ko-KR" altLang="en-US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로그 시스템 전송 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ko-KR" altLang="en-US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ko-KR" altLang="en-US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알림 발송</a:t>
            </a:r>
            <a:endParaRPr lang="ko-KR" altLang="en-US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"Slack </a:t>
            </a:r>
            <a:r>
              <a:rPr lang="ko-KR" altLang="en-US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알림 발송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7999DD-9D1E-B489-C8A0-EBB9B75832C0}"/>
              </a:ext>
            </a:extLst>
          </p:cNvPr>
          <p:cNvSpPr txBox="1"/>
          <p:nvPr/>
        </p:nvSpPr>
        <p:spPr>
          <a:xfrm>
            <a:off x="8796528" y="1962295"/>
            <a:ext cx="32735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재시도 횟수를 넘겨버린 메세지에 대해 </a:t>
            </a:r>
            <a:br>
              <a:rPr lang="en-US" altLang="ko-KR" sz="1200"/>
            </a:br>
            <a:r>
              <a:rPr lang="en-US" altLang="ko-KR" sz="1200"/>
              <a:t>dlt consumer</a:t>
            </a:r>
            <a:r>
              <a:rPr lang="ko-KR" altLang="en-US" sz="1200"/>
              <a:t>가 즉시 동작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로그 시스템에 에러 내용과 메세지를 전송한다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Slack </a:t>
            </a:r>
            <a:r>
              <a:rPr lang="ko-KR" altLang="en-US" sz="1200"/>
              <a:t>등 메신저를 통해 알림을 받을수 있도록 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이후 로그시스템을 보고 에러에 대한 판단에 따라 실패 메세지를 처리한다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( </a:t>
            </a:r>
            <a:r>
              <a:rPr lang="ko-KR" altLang="en-US" sz="1200"/>
              <a:t>일시적 오류 </a:t>
            </a:r>
            <a:r>
              <a:rPr lang="en-US" altLang="ko-KR" sz="1200"/>
              <a:t>- </a:t>
            </a:r>
            <a:r>
              <a:rPr lang="ko-KR" altLang="en-US" sz="1200"/>
              <a:t>기존 </a:t>
            </a:r>
            <a:r>
              <a:rPr lang="en-US" altLang="ko-KR" sz="1200"/>
              <a:t>consumer</a:t>
            </a:r>
            <a:r>
              <a:rPr lang="ko-KR" altLang="en-US" sz="1200"/>
              <a:t>에 재전송 </a:t>
            </a:r>
            <a:r>
              <a:rPr lang="en-US" altLang="ko-KR" sz="1200"/>
              <a:t>)</a:t>
            </a:r>
          </a:p>
          <a:p>
            <a:r>
              <a:rPr lang="en-US" altLang="ko-KR" sz="1200"/>
              <a:t>( </a:t>
            </a:r>
            <a:r>
              <a:rPr lang="ko-KR" altLang="en-US" sz="1200"/>
              <a:t>메세지 폐기 처리 </a:t>
            </a:r>
            <a:r>
              <a:rPr lang="en-US" altLang="ko-KR" sz="1200"/>
              <a:t>- </a:t>
            </a:r>
            <a:r>
              <a:rPr lang="ko-KR" altLang="en-US" sz="1200"/>
              <a:t>더이상 가용되지 않는 </a:t>
            </a:r>
            <a:br>
              <a:rPr lang="en-US" altLang="ko-KR" sz="1200"/>
            </a:br>
            <a:r>
              <a:rPr lang="en-US" altLang="ko-KR" sz="1200"/>
              <a:t>                                      </a:t>
            </a:r>
            <a:r>
              <a:rPr lang="ko-KR" altLang="en-US" sz="1200"/>
              <a:t>정보 요청</a:t>
            </a:r>
            <a:r>
              <a:rPr lang="en-US" altLang="ko-KR" sz="1200"/>
              <a:t>)</a:t>
            </a:r>
          </a:p>
          <a:p>
            <a:r>
              <a:rPr lang="en-US" altLang="ko-KR" sz="1200"/>
              <a:t>( Producer </a:t>
            </a:r>
            <a:r>
              <a:rPr lang="ko-KR" altLang="en-US" sz="1200"/>
              <a:t>검증 로직 추가 </a:t>
            </a:r>
            <a:r>
              <a:rPr lang="en-US" altLang="ko-KR" sz="1200"/>
              <a:t>- </a:t>
            </a:r>
            <a:r>
              <a:rPr lang="ko-KR" altLang="en-US" sz="1200"/>
              <a:t>에러 발생 원인이 되는 메세지를 거르는 로직 추가</a:t>
            </a:r>
            <a:r>
              <a:rPr lang="en-US" altLang="ko-KR" sz="1200"/>
              <a:t>)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254730087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108</TotalTime>
  <Words>612</Words>
  <Application>Microsoft Office PowerPoint</Application>
  <PresentationFormat>와이드스크린</PresentationFormat>
  <Paragraphs>97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Calibri</vt:lpstr>
      <vt:lpstr>Calibri Light</vt:lpstr>
      <vt:lpstr>Consolas</vt:lpstr>
      <vt:lpstr>Wingdings</vt:lpstr>
      <vt:lpstr>추억</vt:lpstr>
      <vt:lpstr>Kafka 메세지 처리 실패 대응</vt:lpstr>
      <vt:lpstr>Kafka 메세지 처리 대응을 위한 에러코드 작성</vt:lpstr>
      <vt:lpstr>Kafka consumer 메세지 처리 실패 확인</vt:lpstr>
      <vt:lpstr>실무형 재시도 셋팅</vt:lpstr>
      <vt:lpstr>Dead Letter Topic 정의</vt:lpstr>
      <vt:lpstr>@RetryableTopic 에 dltTopicSuffix 추가</vt:lpstr>
      <vt:lpstr>에러 발생 후 Kafka Topic 확인</vt:lpstr>
      <vt:lpstr>현업에서의 실패메세지 사후 처리 방법</vt:lpstr>
      <vt:lpstr>DLT consumer  작성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20</cp:revision>
  <dcterms:created xsi:type="dcterms:W3CDTF">2026-08-12T05:28:27Z</dcterms:created>
  <dcterms:modified xsi:type="dcterms:W3CDTF">2026-08-12T07:17:26Z</dcterms:modified>
</cp:coreProperties>
</file>