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0" r:id="rId11"/>
    <p:sldId id="266" r:id="rId12"/>
    <p:sldId id="267" r:id="rId13"/>
    <p:sldId id="268" r:id="rId14"/>
    <p:sldId id="269" r:id="rId15"/>
  </p:sldIdLst>
  <p:sldSz cx="12192000" cy="6858000"/>
  <p:notesSz cx="7105650" cy="10236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D232496-CB87-4389-98EF-DC8547C5DD39}">
          <p14:sldIdLst>
            <p14:sldId id="256"/>
            <p14:sldId id="258"/>
            <p14:sldId id="259"/>
          </p14:sldIdLst>
        </p14:section>
        <p14:section name="topic 생성/조회/삭제 - terminal" id="{D5DB72D3-C39F-4094-9DC0-77EF3DC6AF29}">
          <p14:sldIdLst>
            <p14:sldId id="260"/>
          </p14:sldIdLst>
        </p14:section>
        <p14:section name="topic에 메세지 넣기" id="{6B4BE8EC-5E21-4070-AC3A-B2AD3BFCC110}">
          <p14:sldIdLst>
            <p14:sldId id="261"/>
            <p14:sldId id="262"/>
            <p14:sldId id="263"/>
            <p14:sldId id="264"/>
            <p14:sldId id="265"/>
          </p14:sldIdLst>
        </p14:section>
        <p14:section name="메세지 처리 기억하기" id="{70B26F1B-3EB6-41B4-987B-0396262F22C9}">
          <p14:sldIdLst>
            <p14:sldId id="270"/>
            <p14:sldId id="266"/>
            <p14:sldId id="267"/>
            <p14:sldId id="268"/>
          </p14:sldIdLst>
        </p14:section>
        <p14:section name="토픽 컨슈머 그룹 이름짓는 법" id="{6AC93E99-34CF-40B4-9E48-2240981D5459}">
          <p14:sldIdLst>
            <p14:sldId id="26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3553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59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47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6147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728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0616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239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925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803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41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3707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119510-20E8-4CAB-9777-7EBBF5E17EE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FEDE714-399B-452C-9E27-5AFF259AD2C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447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bourgeois.tistory.com/269#google_vignette" TargetMode="External"/><Relationship Id="rId2" Type="http://schemas.openxmlformats.org/officeDocument/2006/relationships/hyperlink" Target="https://data-engineer-tech.tistory.com/36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evfoxstar.github.io/middleware/kafka-topic-nam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07A0A-8C8C-0F4F-3A6A-50CCA496AA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기본 개념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A1EA1A-71B2-B401-E13A-6AA94C32EB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4054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635822-5739-5532-D621-47C21A4E1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</a:t>
            </a:r>
            <a:r>
              <a:rPr lang="ko-KR" altLang="en-US"/>
              <a:t>의 구조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7E512E2-526A-E20F-4E12-A70D5C672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65376"/>
            <a:ext cx="5018278" cy="48617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D8977-5653-2794-1E53-CE30C1EF0BB3}"/>
              </a:ext>
            </a:extLst>
          </p:cNvPr>
          <p:cNvSpPr txBox="1"/>
          <p:nvPr/>
        </p:nvSpPr>
        <p:spPr>
          <a:xfrm>
            <a:off x="5413248" y="1865376"/>
            <a:ext cx="60441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프로듀서 </a:t>
            </a:r>
            <a:r>
              <a:rPr lang="en-US" altLang="ko-KR" sz="1400">
                <a:sym typeface="Wingdings" panose="05000000000000000000" pitchFamily="2" charset="2"/>
              </a:rPr>
              <a:t> </a:t>
            </a:r>
            <a:r>
              <a:rPr lang="ko-KR" altLang="en-US" sz="1400">
                <a:sym typeface="Wingdings" panose="05000000000000000000" pitchFamily="2" charset="2"/>
              </a:rPr>
              <a:t>메세지를 </a:t>
            </a:r>
            <a:r>
              <a:rPr lang="en-US" altLang="ko-KR" sz="1400">
                <a:sym typeface="Wingdings" panose="05000000000000000000" pitchFamily="2" charset="2"/>
              </a:rPr>
              <a:t>Kafka </a:t>
            </a:r>
            <a:r>
              <a:rPr lang="ko-KR" altLang="en-US" sz="1400">
                <a:sym typeface="Wingdings" panose="05000000000000000000" pitchFamily="2" charset="2"/>
              </a:rPr>
              <a:t>큐로 전달하는 주체</a:t>
            </a:r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                        </a:t>
            </a:r>
            <a:r>
              <a:rPr lang="ko-KR" altLang="en-US" sz="1400">
                <a:sym typeface="Wingdings" panose="05000000000000000000" pitchFamily="2" charset="2"/>
              </a:rPr>
              <a:t>메세지 전달시 </a:t>
            </a:r>
            <a:r>
              <a:rPr lang="en-US" altLang="ko-KR" sz="1400">
                <a:sym typeface="Wingdings" panose="05000000000000000000" pitchFamily="2" charset="2"/>
              </a:rPr>
              <a:t>Topic (</a:t>
            </a:r>
            <a:r>
              <a:rPr lang="ko-KR" altLang="en-US" sz="1400">
                <a:sym typeface="Wingdings" panose="05000000000000000000" pitchFamily="2" charset="2"/>
              </a:rPr>
              <a:t>전달하려는 주제</a:t>
            </a:r>
            <a:r>
              <a:rPr lang="en-US" altLang="ko-KR" sz="1400">
                <a:sym typeface="Wingdings" panose="05000000000000000000" pitchFamily="2" charset="2"/>
              </a:rPr>
              <a:t>) </a:t>
            </a:r>
            <a:r>
              <a:rPr lang="ko-KR" altLang="en-US" sz="1400">
                <a:sym typeface="Wingdings" panose="05000000000000000000" pitchFamily="2" charset="2"/>
              </a:rPr>
              <a:t>별로 구분하여</a:t>
            </a:r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                        Queue</a:t>
            </a:r>
            <a:r>
              <a:rPr lang="ko-KR" altLang="en-US" sz="1400">
                <a:sym typeface="Wingdings" panose="05000000000000000000" pitchFamily="2" charset="2"/>
              </a:rPr>
              <a:t>로 저장</a:t>
            </a:r>
            <a:endParaRPr lang="en-US" altLang="ko-KR" sz="1400">
              <a:sym typeface="Wingdings" panose="05000000000000000000" pitchFamily="2" charset="2"/>
            </a:endParaRPr>
          </a:p>
          <a:p>
            <a:r>
              <a:rPr lang="ko-KR" altLang="en-US" sz="1400">
                <a:sym typeface="Wingdings" panose="05000000000000000000" pitchFamily="2" charset="2"/>
              </a:rPr>
              <a:t>컨슈머 </a:t>
            </a:r>
            <a:r>
              <a:rPr lang="en-US" altLang="ko-KR" sz="1400">
                <a:sym typeface="Wingdings" panose="05000000000000000000" pitchFamily="2" charset="2"/>
              </a:rPr>
              <a:t> Kafka</a:t>
            </a:r>
            <a:r>
              <a:rPr lang="ko-KR" altLang="en-US" sz="1400">
                <a:sym typeface="Wingdings" panose="05000000000000000000" pitchFamily="2" charset="2"/>
              </a:rPr>
              <a:t> 큐에 저장된 메세지를 처리하는 주체</a:t>
            </a:r>
            <a:endParaRPr lang="en-US" altLang="ko-KR" sz="1400">
              <a:sym typeface="Wingdings" panose="05000000000000000000" pitchFamily="2" charset="2"/>
            </a:endParaRPr>
          </a:p>
          <a:p>
            <a:endParaRPr lang="en-US" altLang="ko-KR" sz="1400">
              <a:sym typeface="Wingdings" panose="05000000000000000000" pitchFamily="2" charset="2"/>
            </a:endParaRPr>
          </a:p>
          <a:p>
            <a:r>
              <a:rPr lang="ko-KR" altLang="en-US" sz="1400">
                <a:sym typeface="Wingdings" panose="05000000000000000000" pitchFamily="2" charset="2"/>
              </a:rPr>
              <a:t>토픽 </a:t>
            </a:r>
            <a:r>
              <a:rPr lang="en-US" altLang="ko-KR" sz="1400">
                <a:sym typeface="Wingdings" panose="05000000000000000000" pitchFamily="2" charset="2"/>
              </a:rPr>
              <a:t> </a:t>
            </a:r>
            <a:r>
              <a:rPr lang="ko-KR" altLang="en-US" sz="1400">
                <a:sym typeface="Wingdings" panose="05000000000000000000" pitchFamily="2" charset="2"/>
              </a:rPr>
              <a:t>메세지에 대한 종류를 구분하는 개념</a:t>
            </a:r>
            <a:endParaRPr lang="en-US" altLang="ko-KR" sz="1400">
              <a:sym typeface="Wingdings" panose="05000000000000000000" pitchFamily="2" charset="2"/>
            </a:endParaRPr>
          </a:p>
          <a:p>
            <a:br>
              <a:rPr lang="en-US" altLang="ko-KR" sz="1400">
                <a:sym typeface="Wingdings" panose="05000000000000000000" pitchFamily="2" charset="2"/>
              </a:rPr>
            </a:br>
            <a:r>
              <a:rPr lang="en-US" altLang="ko-KR" sz="1400">
                <a:sym typeface="Wingdings" panose="05000000000000000000" pitchFamily="2" charset="2"/>
              </a:rPr>
              <a:t>                       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086052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2D23F-2E84-8969-F0EC-CF966E03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토픽 생성 </a:t>
            </a:r>
            <a:r>
              <a:rPr lang="en-US" altLang="ko-KR"/>
              <a:t>/ </a:t>
            </a:r>
            <a:r>
              <a:rPr lang="ko-KR" altLang="en-US"/>
              <a:t>조회 </a:t>
            </a:r>
            <a:r>
              <a:rPr lang="en-US" altLang="ko-KR"/>
              <a:t>/ </a:t>
            </a:r>
            <a:r>
              <a:rPr lang="ko-KR" altLang="en-US"/>
              <a:t>삭제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18D5C7E-1D2E-E981-0F7B-FE6A51986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4835" y="1978299"/>
            <a:ext cx="6037189" cy="45930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3F35447-0570-9576-BBD8-F596E617E1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40"/>
          <a:stretch>
            <a:fillRect/>
          </a:stretch>
        </p:blipFill>
        <p:spPr>
          <a:xfrm>
            <a:off x="228599" y="1978299"/>
            <a:ext cx="5247124" cy="18621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E7980-2FC9-33C2-3F8B-20E1E34CB310}"/>
              </a:ext>
            </a:extLst>
          </p:cNvPr>
          <p:cNvSpPr txBox="1"/>
          <p:nvPr/>
        </p:nvSpPr>
        <p:spPr>
          <a:xfrm>
            <a:off x="228599" y="3913632"/>
            <a:ext cx="51389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Spring Backend (Producer) </a:t>
            </a:r>
            <a:r>
              <a:rPr lang="ko-KR" altLang="en-US" sz="1200"/>
              <a:t>에서 </a:t>
            </a:r>
            <a:r>
              <a:rPr lang="en-US" altLang="ko-KR" sz="1200"/>
              <a:t>Kafka Queue </a:t>
            </a:r>
            <a:r>
              <a:rPr lang="ko-KR" altLang="en-US" sz="1200"/>
              <a:t>로 메세지를 보낼수 있는것 처럼</a:t>
            </a:r>
            <a:br>
              <a:rPr lang="en-US" altLang="ko-KR" sz="1200"/>
            </a:br>
            <a:endParaRPr lang="en-US" altLang="ko-KR" sz="1200"/>
          </a:p>
          <a:p>
            <a:r>
              <a:rPr lang="ko-KR" altLang="en-US" sz="1200"/>
              <a:t>터미널에서 </a:t>
            </a:r>
            <a:r>
              <a:rPr lang="en-US" altLang="ko-KR" sz="1200"/>
              <a:t>Kafka</a:t>
            </a:r>
            <a:r>
              <a:rPr lang="ko-KR" altLang="en-US" sz="1200"/>
              <a:t>로 메세지를 </a:t>
            </a:r>
            <a:r>
              <a:rPr lang="en-US" altLang="ko-KR" sz="1200"/>
              <a:t>Topic </a:t>
            </a:r>
            <a:r>
              <a:rPr lang="ko-KR" altLang="en-US" sz="1200"/>
              <a:t>별로 생성및 조작할 수 있다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/>
              <a:t>(※ Redis</a:t>
            </a:r>
            <a:r>
              <a:rPr lang="ko-KR" altLang="en-US" sz="1200"/>
              <a:t>와 동일함</a:t>
            </a:r>
            <a:r>
              <a:rPr lang="en-US" altLang="ko-KR" sz="1200"/>
              <a:t>)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867806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BE1911-2319-6C48-F48D-BEE8C12CB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토픽 생성</a:t>
            </a:r>
            <a:r>
              <a:rPr lang="en-US" altLang="ko-KR"/>
              <a:t>/</a:t>
            </a:r>
            <a:r>
              <a:rPr lang="ko-KR" altLang="en-US"/>
              <a:t>조회</a:t>
            </a:r>
            <a:r>
              <a:rPr lang="en-US" altLang="ko-KR"/>
              <a:t>/</a:t>
            </a:r>
            <a:r>
              <a:rPr lang="ko-KR" altLang="en-US"/>
              <a:t>삭제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494A7E6-9EB0-8CE6-F2E1-F132FA711C87}"/>
              </a:ext>
            </a:extLst>
          </p:cNvPr>
          <p:cNvGrpSpPr/>
          <p:nvPr/>
        </p:nvGrpSpPr>
        <p:grpSpPr>
          <a:xfrm>
            <a:off x="707698" y="2111437"/>
            <a:ext cx="10853928" cy="1161089"/>
            <a:chOff x="769619" y="1935612"/>
            <a:chExt cx="10853928" cy="1161089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0E892DF-1498-97A9-A99D-F1CFB4DF98BF}"/>
                </a:ext>
              </a:extLst>
            </p:cNvPr>
            <p:cNvGrpSpPr/>
            <p:nvPr/>
          </p:nvGrpSpPr>
          <p:grpSpPr>
            <a:xfrm>
              <a:off x="780865" y="1935612"/>
              <a:ext cx="10831437" cy="828791"/>
              <a:chOff x="780865" y="1935612"/>
              <a:chExt cx="10831437" cy="828791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472EC169-B69D-9B65-6BF2-5F6566C11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80865" y="1935612"/>
                <a:ext cx="10831437" cy="828791"/>
              </a:xfrm>
              <a:prstGeom prst="rect">
                <a:avLst/>
              </a:prstGeom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E59B0BFC-894B-50F2-5797-0FC063440309}"/>
                  </a:ext>
                </a:extLst>
              </p:cNvPr>
              <p:cNvSpPr/>
              <p:nvPr/>
            </p:nvSpPr>
            <p:spPr>
              <a:xfrm>
                <a:off x="6126480" y="2432304"/>
                <a:ext cx="2944368" cy="19202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784AF91-7486-EA62-C44A-2FE869744006}"/>
                </a:ext>
              </a:extLst>
            </p:cNvPr>
            <p:cNvSpPr txBox="1"/>
            <p:nvPr/>
          </p:nvSpPr>
          <p:spPr>
            <a:xfrm>
              <a:off x="769619" y="2788924"/>
              <a:ext cx="108539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명령어 </a:t>
              </a:r>
              <a:r>
                <a:rPr lang="en-US" altLang="ko-KR" sz="1400"/>
                <a:t>:localhost:9092</a:t>
              </a:r>
              <a:r>
                <a:rPr lang="ko-KR" altLang="en-US" sz="1400"/>
                <a:t>에 있는 </a:t>
              </a:r>
              <a:r>
                <a:rPr lang="en-US" altLang="ko-KR" sz="1400"/>
                <a:t>Kafka </a:t>
              </a:r>
              <a:r>
                <a:rPr lang="ko-KR" altLang="en-US" sz="1400"/>
                <a:t>서버</a:t>
              </a:r>
              <a:r>
                <a:rPr lang="en-US" altLang="ko-KR" sz="1400"/>
                <a:t>(bootstrap-server) </a:t>
              </a:r>
              <a:r>
                <a:rPr lang="ko-KR" altLang="en-US" sz="1400"/>
                <a:t>를 활용하여 </a:t>
              </a:r>
              <a:r>
                <a:rPr lang="en-US" altLang="ko-KR" sz="1400"/>
                <a:t>email.send</a:t>
              </a:r>
              <a:r>
                <a:rPr lang="ko-KR" altLang="en-US" sz="1400"/>
                <a:t>라는 토픽을 생성한다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1BAB677-34AC-0D88-F01D-3D398F510F34}"/>
              </a:ext>
            </a:extLst>
          </p:cNvPr>
          <p:cNvGrpSpPr/>
          <p:nvPr/>
        </p:nvGrpSpPr>
        <p:grpSpPr>
          <a:xfrm>
            <a:off x="707698" y="3665518"/>
            <a:ext cx="11183113" cy="1662319"/>
            <a:chOff x="769620" y="3250794"/>
            <a:chExt cx="11183113" cy="1662319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305710AB-65CF-629E-EB46-C8BA0A6CA6DB}"/>
                </a:ext>
              </a:extLst>
            </p:cNvPr>
            <p:cNvGrpSpPr/>
            <p:nvPr/>
          </p:nvGrpSpPr>
          <p:grpSpPr>
            <a:xfrm>
              <a:off x="769620" y="3250794"/>
              <a:ext cx="10853928" cy="802606"/>
              <a:chOff x="769620" y="3250794"/>
              <a:chExt cx="10853928" cy="802606"/>
            </a:xfrm>
          </p:grpSpPr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B892590C-AA10-E36B-4F79-556679F75D61}"/>
                  </a:ext>
                </a:extLst>
              </p:cNvPr>
              <p:cNvGrpSpPr/>
              <p:nvPr/>
            </p:nvGrpSpPr>
            <p:grpSpPr>
              <a:xfrm>
                <a:off x="780865" y="3250794"/>
                <a:ext cx="10305930" cy="475488"/>
                <a:chOff x="780865" y="3429000"/>
                <a:chExt cx="10305930" cy="475488"/>
              </a:xfrm>
            </p:grpSpPr>
            <p:pic>
              <p:nvPicPr>
                <p:cNvPr id="9" name="그림 8">
                  <a:extLst>
                    <a:ext uri="{FF2B5EF4-FFF2-40B4-BE49-F238E27FC236}">
                      <a16:creationId xmlns:a16="http://schemas.microsoft.com/office/drawing/2014/main" id="{E8DFC7DE-48BA-5514-D494-9C7F20EA1A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80865" y="3429000"/>
                  <a:ext cx="10305930" cy="475488"/>
                </a:xfrm>
                <a:prstGeom prst="rect">
                  <a:avLst/>
                </a:prstGeom>
              </p:spPr>
            </p:pic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EFFFBFDB-AF78-6CC4-A04C-CF67B7C81D12}"/>
                    </a:ext>
                  </a:extLst>
                </p:cNvPr>
                <p:cNvSpPr/>
                <p:nvPr/>
              </p:nvSpPr>
              <p:spPr>
                <a:xfrm>
                  <a:off x="780865" y="3685032"/>
                  <a:ext cx="1130231" cy="173736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AF0CB62-ED98-15ED-8AA3-3B4210925154}"/>
                  </a:ext>
                </a:extLst>
              </p:cNvPr>
              <p:cNvSpPr txBox="1"/>
              <p:nvPr/>
            </p:nvSpPr>
            <p:spPr>
              <a:xfrm>
                <a:off x="769620" y="3745623"/>
                <a:ext cx="1085392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/>
                  <a:t>명령어 </a:t>
                </a:r>
                <a:r>
                  <a:rPr lang="en-US" altLang="ko-KR" sz="1400"/>
                  <a:t>:localhost:9092</a:t>
                </a:r>
                <a:r>
                  <a:rPr lang="ko-KR" altLang="en-US" sz="1400"/>
                  <a:t>에 있는 </a:t>
                </a:r>
                <a:r>
                  <a:rPr lang="en-US" altLang="ko-KR" sz="1400"/>
                  <a:t>Kafka </a:t>
                </a:r>
                <a:r>
                  <a:rPr lang="ko-KR" altLang="en-US" sz="1400"/>
                  <a:t>서버</a:t>
                </a:r>
                <a:r>
                  <a:rPr lang="en-US" altLang="ko-KR" sz="1400"/>
                  <a:t>(bootstrap-server) </a:t>
                </a:r>
                <a:r>
                  <a:rPr lang="ko-KR" altLang="en-US" sz="1400"/>
                  <a:t>를 활용하여 생성되어있는 </a:t>
                </a:r>
                <a:r>
                  <a:rPr lang="en-US" altLang="ko-KR" sz="1400"/>
                  <a:t>topic </a:t>
                </a:r>
                <a:r>
                  <a:rPr lang="ko-KR" altLang="en-US" sz="1400"/>
                  <a:t>목록을 확인한다</a:t>
                </a:r>
                <a:r>
                  <a:rPr lang="en-US" altLang="ko-KR" sz="1400"/>
                  <a:t>. (</a:t>
                </a:r>
                <a:r>
                  <a:rPr lang="ko-KR" altLang="en-US" sz="1400"/>
                  <a:t>전체 </a:t>
                </a:r>
                <a:r>
                  <a:rPr lang="en-US" altLang="ko-KR" sz="1400"/>
                  <a:t>topic </a:t>
                </a:r>
                <a:r>
                  <a:rPr lang="ko-KR" altLang="en-US" sz="1400"/>
                  <a:t>확인</a:t>
                </a:r>
                <a:r>
                  <a:rPr lang="en-US" altLang="ko-KR" sz="1400"/>
                  <a:t>)</a:t>
                </a:r>
                <a:endParaRPr lang="ko-KR" altLang="en-US" sz="1400"/>
              </a:p>
            </p:txBody>
          </p:sp>
        </p:grp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FF9F095C-B49A-9EA1-B424-A7B0FE89A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9620" y="4139049"/>
              <a:ext cx="11183113" cy="46628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33F2124-ACCC-B86C-639B-983B71F36291}"/>
                </a:ext>
              </a:extLst>
            </p:cNvPr>
            <p:cNvSpPr txBox="1"/>
            <p:nvPr/>
          </p:nvSpPr>
          <p:spPr>
            <a:xfrm>
              <a:off x="769620" y="4605336"/>
              <a:ext cx="108539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명령어 </a:t>
              </a:r>
              <a:r>
                <a:rPr lang="en-US" altLang="ko-KR" sz="1400"/>
                <a:t>:localhost:9092</a:t>
              </a:r>
              <a:r>
                <a:rPr lang="ko-KR" altLang="en-US" sz="1400"/>
                <a:t>에 있는 </a:t>
              </a:r>
              <a:r>
                <a:rPr lang="en-US" altLang="ko-KR" sz="1400"/>
                <a:t>Kafka </a:t>
              </a:r>
              <a:r>
                <a:rPr lang="ko-KR" altLang="en-US" sz="1400"/>
                <a:t>서버</a:t>
              </a:r>
              <a:r>
                <a:rPr lang="en-US" altLang="ko-KR" sz="1400"/>
                <a:t>(bootstrap-server) </a:t>
              </a:r>
              <a:r>
                <a:rPr lang="ko-KR" altLang="en-US" sz="1400"/>
                <a:t>를 활용하여 생성되어있는 </a:t>
              </a:r>
              <a:r>
                <a:rPr lang="en-US" altLang="ko-KR" sz="1400"/>
                <a:t>send.email </a:t>
              </a:r>
              <a:r>
                <a:rPr lang="ko-KR" altLang="en-US" sz="1400"/>
                <a:t>토픽에 대한 상세정보를 확인한다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F764EDC9-23F4-277A-8207-2FD3D6DFDE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3" y="5657673"/>
            <a:ext cx="10707594" cy="4001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267EA7C-34E9-6FD1-C562-5FC6802F2997}"/>
              </a:ext>
            </a:extLst>
          </p:cNvPr>
          <p:cNvSpPr txBox="1"/>
          <p:nvPr/>
        </p:nvSpPr>
        <p:spPr>
          <a:xfrm>
            <a:off x="707698" y="1737360"/>
            <a:ext cx="3224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토픽 생성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D8DA46-2044-BF78-6C6E-166BAF624C98}"/>
              </a:ext>
            </a:extLst>
          </p:cNvPr>
          <p:cNvSpPr txBox="1"/>
          <p:nvPr/>
        </p:nvSpPr>
        <p:spPr>
          <a:xfrm>
            <a:off x="630374" y="3244065"/>
            <a:ext cx="3224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토픽 목록 조회 </a:t>
            </a:r>
            <a:r>
              <a:rPr lang="en-US" altLang="ko-KR" b="1">
                <a:solidFill>
                  <a:srgbClr val="FF0000"/>
                </a:solidFill>
              </a:rPr>
              <a:t>/ </a:t>
            </a:r>
            <a:r>
              <a:rPr lang="ko-KR" altLang="en-US" b="1">
                <a:solidFill>
                  <a:srgbClr val="FF0000"/>
                </a:solidFill>
              </a:rPr>
              <a:t>상세조회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B0E5F3-32A0-FB80-D71F-24C9E817F106}"/>
              </a:ext>
            </a:extLst>
          </p:cNvPr>
          <p:cNvSpPr txBox="1"/>
          <p:nvPr/>
        </p:nvSpPr>
        <p:spPr>
          <a:xfrm>
            <a:off x="630374" y="5301681"/>
            <a:ext cx="3224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FF0000"/>
                </a:solidFill>
              </a:rPr>
              <a:t>토픽 삭제</a:t>
            </a:r>
          </a:p>
        </p:txBody>
      </p:sp>
    </p:spTree>
    <p:extLst>
      <p:ext uri="{BB962C8B-B14F-4D97-AF65-F5344CB8AC3E}">
        <p14:creationId xmlns:p14="http://schemas.microsoft.com/office/powerpoint/2010/main" val="1097235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FDA042-E520-6A41-E98B-D332FE94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 </a:t>
            </a:r>
            <a:r>
              <a:rPr lang="ko-KR" altLang="en-US"/>
              <a:t>환경에서 </a:t>
            </a:r>
            <a:r>
              <a:rPr lang="en-US" altLang="ko-KR"/>
              <a:t>Topic</a:t>
            </a:r>
            <a:r>
              <a:rPr lang="ko-KR" altLang="en-US"/>
              <a:t>에 메세지 전달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717AA8-28F7-5B21-0116-7F0E7C63C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265" y="1967740"/>
            <a:ext cx="7161527" cy="4093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17088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21813D-92B4-64D4-DCC6-18C7C13AD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Topic</a:t>
            </a:r>
            <a:r>
              <a:rPr lang="ko-KR" altLang="en-US"/>
              <a:t>에 메세지 전달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A92E95-6089-A15F-B65A-AC11DBA28AE5}"/>
              </a:ext>
            </a:extLst>
          </p:cNvPr>
          <p:cNvSpPr txBox="1"/>
          <p:nvPr/>
        </p:nvSpPr>
        <p:spPr>
          <a:xfrm>
            <a:off x="1097280" y="1975104"/>
            <a:ext cx="100584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★</a:t>
            </a:r>
            <a:r>
              <a:rPr lang="en-US" altLang="ko-KR" sz="1400" b="1"/>
              <a:t>kafka</a:t>
            </a:r>
            <a:r>
              <a:rPr lang="ko-KR" altLang="en-US" sz="1400" b="1"/>
              <a:t>는 키</a:t>
            </a:r>
            <a:r>
              <a:rPr lang="en-US" altLang="ko-KR" sz="1400" b="1"/>
              <a:t>-</a:t>
            </a:r>
            <a:r>
              <a:rPr lang="ko-KR" altLang="en-US" sz="1400" b="1"/>
              <a:t>값 쌍으로 메세지를 넣을수도 있고</a:t>
            </a:r>
            <a:r>
              <a:rPr lang="en-US" altLang="ko-KR" sz="1400" b="1"/>
              <a:t>, </a:t>
            </a:r>
            <a:r>
              <a:rPr lang="ko-KR" altLang="en-US" sz="1400" b="1"/>
              <a:t>값만을 메세지로 넣을수 있다</a:t>
            </a:r>
            <a:r>
              <a:rPr lang="en-US" altLang="ko-KR" sz="1400" b="1"/>
              <a:t>.</a:t>
            </a:r>
          </a:p>
          <a:p>
            <a:r>
              <a:rPr lang="ko-KR" altLang="en-US" sz="1400" b="1"/>
              <a:t>    이번 실습으로는 값만을 </a:t>
            </a:r>
            <a:r>
              <a:rPr lang="en-US" altLang="ko-KR" sz="1400" b="1"/>
              <a:t>CLI</a:t>
            </a:r>
            <a:r>
              <a:rPr lang="ko-KR" altLang="en-US" sz="1400" b="1"/>
              <a:t>환경에서 넣는 것을 진행한다</a:t>
            </a:r>
            <a:r>
              <a:rPr lang="en-US" altLang="ko-KR" sz="1400" b="1"/>
              <a:t>.</a:t>
            </a:r>
            <a:br>
              <a:rPr lang="en-US" altLang="ko-KR" sz="1400" b="1">
                <a:solidFill>
                  <a:srgbClr val="FF0000"/>
                </a:solidFill>
              </a:rPr>
            </a:br>
            <a:br>
              <a:rPr lang="en-US" altLang="ko-KR" sz="1400" b="1">
                <a:solidFill>
                  <a:srgbClr val="FF0000"/>
                </a:solidFill>
              </a:rPr>
            </a:br>
            <a:r>
              <a:rPr lang="en-US" altLang="ko-KR" sz="1400" b="1">
                <a:solidFill>
                  <a:srgbClr val="FF0000"/>
                </a:solidFill>
              </a:rPr>
              <a:t>※ Topic</a:t>
            </a:r>
            <a:r>
              <a:rPr lang="ko-KR" altLang="en-US" sz="1400" b="1">
                <a:solidFill>
                  <a:srgbClr val="FF0000"/>
                </a:solidFill>
              </a:rPr>
              <a:t>에 메세지 생성</a:t>
            </a:r>
            <a:r>
              <a:rPr lang="en-US" altLang="ko-KR" sz="1400" b="1">
                <a:solidFill>
                  <a:srgbClr val="FF0000"/>
                </a:solidFill>
              </a:rPr>
              <a:t>(producer)</a:t>
            </a:r>
          </a:p>
          <a:p>
            <a:r>
              <a:rPr lang="en-US" altLang="ko-KR" sz="1400"/>
              <a:t>&gt; ~/kafka_2.13-4.1.2/kafka-console-producer.sh --boopstrap-server localhost:9092 --topic email.send</a:t>
            </a:r>
          </a:p>
          <a:p>
            <a:r>
              <a:rPr lang="en-US" altLang="ko-KR" sz="1400"/>
              <a:t>&gt; hello1</a:t>
            </a:r>
          </a:p>
          <a:p>
            <a:r>
              <a:rPr lang="en-US" altLang="ko-KR" sz="1400"/>
              <a:t>&gt; hello2</a:t>
            </a:r>
          </a:p>
          <a:p>
            <a:r>
              <a:rPr lang="en-US" altLang="ko-KR" sz="1400"/>
              <a:t>&gt; hello3</a:t>
            </a:r>
          </a:p>
          <a:p>
            <a:r>
              <a:rPr lang="en-US" altLang="ko-KR" sz="1400" b="1">
                <a:solidFill>
                  <a:srgbClr val="FF0000"/>
                </a:solidFill>
              </a:rPr>
              <a:t>※ Topic</a:t>
            </a:r>
            <a:r>
              <a:rPr lang="ko-KR" altLang="en-US" sz="1400" b="1">
                <a:solidFill>
                  <a:srgbClr val="FF0000"/>
                </a:solidFill>
              </a:rPr>
              <a:t> 메세지 확인</a:t>
            </a:r>
            <a:r>
              <a:rPr lang="en-US" altLang="ko-KR" sz="1400" b="1">
                <a:solidFill>
                  <a:srgbClr val="FF0000"/>
                </a:solidFill>
              </a:rPr>
              <a:t>(consumer)</a:t>
            </a:r>
          </a:p>
          <a:p>
            <a:r>
              <a:rPr lang="en-US" altLang="ko-KR" sz="1400"/>
              <a:t>&gt; ~/kafka_2.13-4.1.2/kafka-console-consumer.sh –bootstrap-server localhost:9092 –topic email.send --from-beginning</a:t>
            </a:r>
          </a:p>
          <a:p>
            <a:r>
              <a:rPr lang="en-US" altLang="ko-KR" sz="1400"/>
              <a:t>hello1</a:t>
            </a:r>
          </a:p>
          <a:p>
            <a:r>
              <a:rPr lang="en-US" altLang="ko-KR" sz="1400"/>
              <a:t>hello2</a:t>
            </a:r>
          </a:p>
          <a:p>
            <a:r>
              <a:rPr lang="en-US" altLang="ko-KR" sz="1400"/>
              <a:t>hello3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011326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A43374-B157-6608-10D6-86EDDF0D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</a:t>
            </a:r>
            <a:r>
              <a:rPr lang="ko-KR" altLang="en-US"/>
              <a:t>와 </a:t>
            </a:r>
            <a:r>
              <a:rPr lang="en-US" altLang="ko-KR"/>
              <a:t>RabbitMQ	</a:t>
            </a:r>
            <a:r>
              <a:rPr lang="ko-KR" altLang="en-US"/>
              <a:t>의 차이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FBB0001-C94B-C67D-C7BD-DC5BE6B6B9C3}"/>
              </a:ext>
            </a:extLst>
          </p:cNvPr>
          <p:cNvGrpSpPr/>
          <p:nvPr/>
        </p:nvGrpSpPr>
        <p:grpSpPr>
          <a:xfrm>
            <a:off x="2766789" y="1991324"/>
            <a:ext cx="7341173" cy="4057973"/>
            <a:chOff x="2766789" y="1991324"/>
            <a:chExt cx="7341173" cy="4057973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2DB3E5C7-329C-97A5-A23C-12134C8AEB91}"/>
                </a:ext>
              </a:extLst>
            </p:cNvPr>
            <p:cNvGrpSpPr/>
            <p:nvPr/>
          </p:nvGrpSpPr>
          <p:grpSpPr>
            <a:xfrm>
              <a:off x="2766789" y="1991324"/>
              <a:ext cx="7341173" cy="4057973"/>
              <a:chOff x="2766789" y="1991324"/>
              <a:chExt cx="7341173" cy="4057973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A82DE72-5953-047C-3C31-02F6488ECCCD}"/>
                  </a:ext>
                </a:extLst>
              </p:cNvPr>
              <p:cNvGrpSpPr/>
              <p:nvPr/>
            </p:nvGrpSpPr>
            <p:grpSpPr>
              <a:xfrm>
                <a:off x="2766789" y="1991324"/>
                <a:ext cx="7341173" cy="4057973"/>
                <a:chOff x="2766789" y="1991324"/>
                <a:chExt cx="7341173" cy="4057973"/>
              </a:xfrm>
            </p:grpSpPr>
            <p:pic>
              <p:nvPicPr>
                <p:cNvPr id="4" name="그림 3">
                  <a:extLst>
                    <a:ext uri="{FF2B5EF4-FFF2-40B4-BE49-F238E27FC236}">
                      <a16:creationId xmlns:a16="http://schemas.microsoft.com/office/drawing/2014/main" id="{A4051251-D03D-05DB-2368-F04F7A6498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766789" y="1991324"/>
                  <a:ext cx="7341173" cy="4057973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B49FCF12-2950-4935-996B-17BF5DFDE282}"/>
                    </a:ext>
                  </a:extLst>
                </p:cNvPr>
                <p:cNvSpPr/>
                <p:nvPr/>
              </p:nvSpPr>
              <p:spPr>
                <a:xfrm>
                  <a:off x="2862072" y="2368296"/>
                  <a:ext cx="4910328" cy="228600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9B46EDDF-5C2D-FCB0-F933-31DB2C2CF42F}"/>
                  </a:ext>
                </a:extLst>
              </p:cNvPr>
              <p:cNvSpPr/>
              <p:nvPr/>
            </p:nvSpPr>
            <p:spPr>
              <a:xfrm>
                <a:off x="8869680" y="2368296"/>
                <a:ext cx="1112520" cy="2286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C07BCEC-1F16-64DF-64C1-C94E79DC6AA1}"/>
                </a:ext>
              </a:extLst>
            </p:cNvPr>
            <p:cNvSpPr/>
            <p:nvPr/>
          </p:nvSpPr>
          <p:spPr>
            <a:xfrm>
              <a:off x="2862072" y="2558796"/>
              <a:ext cx="4818888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209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3A7A8-1387-4DDE-389A-D9805DBF9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/>
              <a:t>CLI</a:t>
            </a:r>
            <a:r>
              <a:rPr lang="ko-KR" altLang="en-US" sz="4400"/>
              <a:t>환경 </a:t>
            </a:r>
            <a:r>
              <a:rPr lang="en-US" altLang="ko-KR" sz="4400"/>
              <a:t>consumer</a:t>
            </a:r>
            <a:r>
              <a:rPr lang="ko-KR" altLang="en-US" sz="4400"/>
              <a:t>의 동작</a:t>
            </a:r>
            <a:r>
              <a:rPr lang="en-US" altLang="ko-KR" sz="4400"/>
              <a:t>(</a:t>
            </a:r>
            <a:r>
              <a:rPr lang="ko-KR" altLang="en-US" sz="4400"/>
              <a:t>실시간 확인</a:t>
            </a:r>
            <a:r>
              <a:rPr lang="en-US" altLang="ko-KR" sz="4400"/>
              <a:t>)</a:t>
            </a:r>
            <a:endParaRPr lang="ko-KR" altLang="en-US" sz="4400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71FFDE-F7E9-1B18-50C8-5DAAD4F3AE57}"/>
              </a:ext>
            </a:extLst>
          </p:cNvPr>
          <p:cNvGrpSpPr/>
          <p:nvPr/>
        </p:nvGrpSpPr>
        <p:grpSpPr>
          <a:xfrm>
            <a:off x="844296" y="1780894"/>
            <a:ext cx="10764752" cy="1882419"/>
            <a:chOff x="831712" y="1915913"/>
            <a:chExt cx="10764752" cy="1882419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84C2A1A-94E2-93D6-8FA4-CCFB20EA3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712" y="1915913"/>
              <a:ext cx="10764752" cy="1476581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F69A774-8D56-52FC-D7C9-B19E5A54C5BF}"/>
                </a:ext>
              </a:extLst>
            </p:cNvPr>
            <p:cNvSpPr txBox="1"/>
            <p:nvPr/>
          </p:nvSpPr>
          <p:spPr>
            <a:xfrm>
              <a:off x="844296" y="3429000"/>
              <a:ext cx="53644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브라우저 </a:t>
              </a:r>
              <a:r>
                <a:rPr lang="en-US" altLang="ko-KR"/>
                <a:t>1 – producer</a:t>
              </a:r>
              <a:r>
                <a:rPr lang="ko-KR" altLang="en-US"/>
                <a:t> 실행</a:t>
              </a:r>
              <a:r>
                <a:rPr lang="en-US" altLang="ko-KR"/>
                <a:t>(</a:t>
              </a:r>
              <a:r>
                <a:rPr lang="ko-KR" altLang="en-US"/>
                <a:t>콘솔입력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8CDF75F-CF5F-2192-7088-6303FF5D8E19}"/>
              </a:ext>
            </a:extLst>
          </p:cNvPr>
          <p:cNvGrpSpPr/>
          <p:nvPr/>
        </p:nvGrpSpPr>
        <p:grpSpPr>
          <a:xfrm>
            <a:off x="856880" y="3996069"/>
            <a:ext cx="10576952" cy="1777365"/>
            <a:chOff x="831712" y="4151517"/>
            <a:chExt cx="10576952" cy="177736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490EB56-BEDA-8958-54AC-408CBFB7E1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4296" y="4151517"/>
              <a:ext cx="10564368" cy="140803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0EBADF2-24C6-5B01-4BFB-3CF5A852BB7F}"/>
                </a:ext>
              </a:extLst>
            </p:cNvPr>
            <p:cNvSpPr txBox="1"/>
            <p:nvPr/>
          </p:nvSpPr>
          <p:spPr>
            <a:xfrm>
              <a:off x="831712" y="5559550"/>
              <a:ext cx="53644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브라우저 </a:t>
              </a:r>
              <a:r>
                <a:rPr lang="en-US" altLang="ko-KR"/>
                <a:t>2– consumer</a:t>
              </a:r>
              <a:r>
                <a:rPr lang="ko-KR" altLang="en-US"/>
                <a:t>실행</a:t>
              </a:r>
              <a:r>
                <a:rPr lang="en-US" altLang="ko-KR"/>
                <a:t>(</a:t>
              </a:r>
              <a:r>
                <a:rPr lang="ko-KR" altLang="en-US"/>
                <a:t>모니터링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8E86DB2-BF4F-EEDF-1327-53E6FF9C063F}"/>
              </a:ext>
            </a:extLst>
          </p:cNvPr>
          <p:cNvSpPr txBox="1"/>
          <p:nvPr/>
        </p:nvSpPr>
        <p:spPr>
          <a:xfrm>
            <a:off x="893652" y="5773434"/>
            <a:ext cx="10655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※ Producer</a:t>
            </a:r>
            <a:r>
              <a:rPr lang="ko-KR" altLang="en-US" sz="1400"/>
              <a:t>에서 </a:t>
            </a:r>
            <a:r>
              <a:rPr lang="en-US" altLang="ko-KR" sz="1400"/>
              <a:t>email.send topic</a:t>
            </a:r>
            <a:r>
              <a:rPr lang="ko-KR" altLang="en-US" sz="1400"/>
              <a:t>에 메세지를 저장하면</a:t>
            </a:r>
            <a:br>
              <a:rPr lang="en-US" altLang="ko-KR" sz="1400"/>
            </a:br>
            <a:r>
              <a:rPr lang="en-US" altLang="ko-KR" sz="1400"/>
              <a:t>     </a:t>
            </a:r>
            <a:r>
              <a:rPr lang="ko-KR" altLang="en-US" sz="1400"/>
              <a:t>실행 중인 </a:t>
            </a:r>
            <a:r>
              <a:rPr lang="en-US" altLang="ko-KR" sz="1400"/>
              <a:t>Consumer </a:t>
            </a:r>
            <a:r>
              <a:rPr lang="ko-KR" altLang="en-US" sz="1400"/>
              <a:t>에 실시간으로 해당 메세지가 출력되는걸 확인할 수 있다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8483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1E5E2-B9BE-163D-378F-5AF5609A1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producer</a:t>
            </a:r>
            <a:r>
              <a:rPr lang="ko-KR" altLang="en-US" sz="4000"/>
              <a:t>의 빈 값입력</a:t>
            </a:r>
            <a:r>
              <a:rPr lang="en-US" altLang="ko-KR" sz="4000"/>
              <a:t>(</a:t>
            </a:r>
            <a:r>
              <a:rPr lang="ko-KR" altLang="en-US" sz="4000"/>
              <a:t>번외</a:t>
            </a:r>
            <a:r>
              <a:rPr lang="en-US" altLang="ko-KR" sz="4000"/>
              <a:t>[</a:t>
            </a:r>
            <a:r>
              <a:rPr lang="ko-KR" altLang="en-US" sz="4000"/>
              <a:t>강의 내용</a:t>
            </a:r>
            <a:r>
              <a:rPr lang="en-US" altLang="ko-KR" sz="4000"/>
              <a:t>X])</a:t>
            </a:r>
            <a:endParaRPr lang="ko-KR" altLang="en-US" sz="40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141BFFE-03AC-6D01-8496-4C01B4970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19" y="2018084"/>
            <a:ext cx="10802858" cy="104789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BD19AC9-6FA3-7CA5-BCE1-44707B015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19" y="3346704"/>
            <a:ext cx="10802858" cy="11120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65B11E-48F6-70B0-22E3-E34D8E2AEBE3}"/>
              </a:ext>
            </a:extLst>
          </p:cNvPr>
          <p:cNvSpPr txBox="1"/>
          <p:nvPr/>
        </p:nvSpPr>
        <p:spPr>
          <a:xfrm>
            <a:off x="621419" y="4581144"/>
            <a:ext cx="108028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프로듀서 입력에 빈 문자열을 </a:t>
            </a:r>
            <a:r>
              <a:rPr lang="en-US" altLang="ko-KR" sz="1400"/>
              <a:t>Enter</a:t>
            </a:r>
            <a:r>
              <a:rPr lang="ko-KR" altLang="en-US" sz="1400"/>
              <a:t>로 두 번 넣었는데</a:t>
            </a:r>
            <a:r>
              <a:rPr lang="en-US" altLang="ko-KR" sz="1400"/>
              <a:t>, consumer</a:t>
            </a:r>
            <a:r>
              <a:rPr lang="ko-KR" altLang="en-US" sz="1400"/>
              <a:t>에 빈 문자열도 목록상 보이는걸로 봐서</a:t>
            </a:r>
            <a:endParaRPr lang="en-US" altLang="ko-KR" sz="1400"/>
          </a:p>
          <a:p>
            <a:r>
              <a:rPr lang="en-US" altLang="ko-KR" sz="1400"/>
              <a:t>kafka</a:t>
            </a:r>
            <a:r>
              <a:rPr lang="ko-KR" altLang="en-US" sz="1400"/>
              <a:t>는 빈 값도 값 취급을 함</a:t>
            </a:r>
            <a:r>
              <a:rPr lang="en-US" altLang="ko-KR" sz="1400"/>
              <a:t>.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15468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F73C3D-A0C7-3142-228C-5B9E90B01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컨슈머 그룹에 의한 </a:t>
            </a:r>
            <a:r>
              <a:rPr lang="en-US" altLang="ko-KR"/>
              <a:t>offset </a:t>
            </a:r>
            <a:r>
              <a:rPr lang="ko-KR" altLang="en-US"/>
              <a:t>개념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DE39FCD-B53D-957B-1702-29D85A87B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271" y="1909736"/>
            <a:ext cx="6522594" cy="485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5898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91A823-5DC3-5F7D-F4DE-F89A98078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264" y="286603"/>
            <a:ext cx="10561320" cy="1450757"/>
          </a:xfrm>
        </p:spPr>
        <p:txBody>
          <a:bodyPr>
            <a:normAutofit/>
          </a:bodyPr>
          <a:lstStyle/>
          <a:p>
            <a:r>
              <a:rPr lang="ko-KR" altLang="en-US" sz="2800"/>
              <a:t>메세지를 어디까지 읽었는지 기억하고 그 다음메세지 부터 처리하기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6336F8-06FE-14ED-7C47-DA40910F8328}"/>
              </a:ext>
            </a:extLst>
          </p:cNvPr>
          <p:cNvSpPr txBox="1"/>
          <p:nvPr/>
        </p:nvSpPr>
        <p:spPr>
          <a:xfrm>
            <a:off x="969264" y="1929383"/>
            <a:ext cx="10451592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컨슈머 그룹 지정하기</a:t>
            </a:r>
            <a:endParaRPr lang="en-US" altLang="ko-KR" sz="1400" b="1"/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bin/kafka-console-consumer.sh --bootstrap-server localhost:9092 --topic email.send --from-beginning --group  email-send-group</a:t>
            </a: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r>
              <a:rPr lang="ko-KR" altLang="en-US" sz="1200">
                <a:sym typeface="Wingdings" panose="05000000000000000000" pitchFamily="2" charset="2"/>
              </a:rPr>
              <a:t>명령어 해석 </a:t>
            </a:r>
            <a:r>
              <a:rPr lang="en-US" altLang="ko-KR" sz="1200">
                <a:sym typeface="Wingdings" panose="05000000000000000000" pitchFamily="2" charset="2"/>
              </a:rPr>
              <a:t> 1. </a:t>
            </a:r>
            <a:r>
              <a:rPr lang="ko-KR" altLang="en-US" sz="1200">
                <a:sym typeface="Wingdings" panose="05000000000000000000" pitchFamily="2" charset="2"/>
              </a:rPr>
              <a:t>컨슈머 그룹을 </a:t>
            </a:r>
            <a:r>
              <a:rPr lang="en-US" altLang="ko-KR" sz="1200">
                <a:sym typeface="Wingdings" panose="05000000000000000000" pitchFamily="2" charset="2"/>
              </a:rPr>
              <a:t>email-send-group </a:t>
            </a:r>
            <a:r>
              <a:rPr lang="ko-KR" altLang="en-US" sz="1200">
                <a:sym typeface="Wingdings" panose="05000000000000000000" pitchFamily="2" charset="2"/>
              </a:rPr>
              <a:t>이라는 그룹명으로 설정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		   2. --from-beginning </a:t>
            </a:r>
            <a:r>
              <a:rPr lang="ko-KR" altLang="en-US" sz="1200">
                <a:sym typeface="Wingdings" panose="05000000000000000000" pitchFamily="2" charset="2"/>
              </a:rPr>
              <a:t>옵션은 컨슈머그룹의 </a:t>
            </a:r>
            <a:r>
              <a:rPr lang="en-US" altLang="ko-KR" sz="1200">
                <a:sym typeface="Wingdings" panose="05000000000000000000" pitchFamily="2" charset="2"/>
              </a:rPr>
              <a:t>offset</a:t>
            </a:r>
            <a:r>
              <a:rPr lang="ko-KR" altLang="en-US" sz="1200">
                <a:sym typeface="Wingdings" panose="05000000000000000000" pitchFamily="2" charset="2"/>
              </a:rPr>
              <a:t>이 없다면 </a:t>
            </a:r>
            <a:r>
              <a:rPr lang="en-US" altLang="ko-KR" sz="1200">
                <a:sym typeface="Wingdings" panose="05000000000000000000" pitchFamily="2" charset="2"/>
              </a:rPr>
              <a:t>(</a:t>
            </a:r>
            <a:r>
              <a:rPr lang="ko-KR" altLang="en-US" sz="1200">
                <a:sym typeface="Wingdings" panose="05000000000000000000" pitchFamily="2" charset="2"/>
              </a:rPr>
              <a:t>컨슈머그룹을 처음만든 상태</a:t>
            </a:r>
            <a:r>
              <a:rPr lang="en-US" altLang="ko-KR" sz="1200">
                <a:sym typeface="Wingdings" panose="05000000000000000000" pitchFamily="2" charset="2"/>
              </a:rPr>
              <a:t>) </a:t>
            </a:r>
            <a:r>
              <a:rPr lang="ko-KR" altLang="en-US" sz="1200">
                <a:sym typeface="Wingdings" panose="05000000000000000000" pitchFamily="2" charset="2"/>
              </a:rPr>
              <a:t>처음부터 메세지를 끝까지 읽어들이겠다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                             3. --from-beginning </a:t>
            </a:r>
            <a:r>
              <a:rPr lang="ko-KR" altLang="en-US" sz="1200">
                <a:sym typeface="Wingdings" panose="05000000000000000000" pitchFamily="2" charset="2"/>
              </a:rPr>
              <a:t>에서 </a:t>
            </a:r>
            <a:r>
              <a:rPr lang="en-US" altLang="ko-KR" sz="1200">
                <a:sym typeface="Wingdings" panose="05000000000000000000" pitchFamily="2" charset="2"/>
              </a:rPr>
              <a:t>offset</a:t>
            </a:r>
            <a:r>
              <a:rPr lang="ko-KR" altLang="en-US" sz="1200">
                <a:sym typeface="Wingdings" panose="05000000000000000000" pitchFamily="2" charset="2"/>
              </a:rPr>
              <a:t>이 있다면</a:t>
            </a:r>
            <a:r>
              <a:rPr lang="en-US" altLang="ko-KR" sz="1200">
                <a:sym typeface="Wingdings" panose="05000000000000000000" pitchFamily="2" charset="2"/>
              </a:rPr>
              <a:t> </a:t>
            </a:r>
            <a:r>
              <a:rPr lang="ko-KR" altLang="en-US" sz="1200">
                <a:sym typeface="Wingdings" panose="05000000000000000000" pitchFamily="2" charset="2"/>
              </a:rPr>
              <a:t>처음부터가 아닌 </a:t>
            </a:r>
            <a:r>
              <a:rPr lang="en-US" altLang="ko-KR" sz="1200">
                <a:sym typeface="Wingdings" panose="05000000000000000000" pitchFamily="2" charset="2"/>
              </a:rPr>
              <a:t>offset </a:t>
            </a:r>
            <a:r>
              <a:rPr lang="ko-KR" altLang="en-US" sz="1200">
                <a:sym typeface="Wingdings" panose="05000000000000000000" pitchFamily="2" charset="2"/>
              </a:rPr>
              <a:t>번호부터 읽어들이겠다</a:t>
            </a:r>
            <a:r>
              <a:rPr lang="en-US" altLang="ko-KR" sz="1200">
                <a:sym typeface="Wingdings" panose="05000000000000000000" pitchFamily="2" charset="2"/>
              </a:rPr>
              <a:t>.</a:t>
            </a: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r>
              <a:rPr lang="ko-KR" altLang="en-US" sz="1400" b="1"/>
              <a:t>컨슈머 그룹 확인하기</a:t>
            </a:r>
            <a:endParaRPr lang="en-US" altLang="ko-KR" sz="1400" b="1"/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bin/kafka-consumer-group.sh --bootstrap-server localhost:9092 --list (</a:t>
            </a:r>
            <a:r>
              <a:rPr lang="ko-KR" altLang="en-US" sz="1200"/>
              <a:t>컨슈머 그룹 목록 확인</a:t>
            </a:r>
            <a:r>
              <a:rPr lang="en-US" altLang="ko-KR" sz="1200"/>
              <a:t>)</a:t>
            </a:r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bin/kafka-consumer-group.sh --bootstrap-server localhost:9092 --group email-send-group --describe (</a:t>
            </a:r>
            <a:r>
              <a:rPr lang="ko-KR" altLang="en-US" sz="1200"/>
              <a:t>컨슈머 그룹 상세 정보 확인</a:t>
            </a:r>
            <a:r>
              <a:rPr lang="en-US" altLang="ko-KR" sz="1200"/>
              <a:t>)</a:t>
            </a:r>
            <a:br>
              <a:rPr lang="en-US" altLang="ko-KR" sz="1200"/>
            </a:br>
            <a:br>
              <a:rPr lang="en-US" altLang="ko-KR" sz="1200"/>
            </a:br>
            <a:r>
              <a:rPr lang="ko-KR" altLang="en-US" sz="1200"/>
              <a:t>컨슈머 그룹 삭제</a:t>
            </a:r>
            <a:endParaRPr lang="en-US" altLang="ko-KR" sz="1200"/>
          </a:p>
          <a:p>
            <a:r>
              <a:rPr lang="en-US" altLang="ko-KR" sz="1200"/>
              <a:t>~/kafka</a:t>
            </a:r>
            <a:r>
              <a:rPr lang="ko-KR" altLang="en-US" sz="1200"/>
              <a:t>폴더 </a:t>
            </a:r>
            <a:r>
              <a:rPr lang="en-US" altLang="ko-KR" sz="1200"/>
              <a:t>&gt; bin/kafka-consumer-group.sh --bootstrap-server localhost:9092 --delete --group email-send-group</a:t>
            </a: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008312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63DF3C-F9D5-D0E9-A257-4960D604D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실습 시나리오 확인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16D56A8-46AC-938C-5FE8-DC0BD0C82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41" y="3815862"/>
            <a:ext cx="11864718" cy="63026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C4B850-8573-E57E-037B-CC0E22573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41" y="4947729"/>
            <a:ext cx="11864718" cy="1014866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F5B8073E-62F4-BA2E-9D96-6395EF534BDF}"/>
              </a:ext>
            </a:extLst>
          </p:cNvPr>
          <p:cNvGrpSpPr/>
          <p:nvPr/>
        </p:nvGrpSpPr>
        <p:grpSpPr>
          <a:xfrm>
            <a:off x="739340" y="1888602"/>
            <a:ext cx="10774279" cy="517356"/>
            <a:chOff x="739340" y="1888602"/>
            <a:chExt cx="10774279" cy="51735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795542D-02EB-71BB-E55D-B20641E78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9340" y="1888602"/>
              <a:ext cx="10774279" cy="20957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8EBB072-923B-ED18-4981-2E6E9365EF17}"/>
                </a:ext>
              </a:extLst>
            </p:cNvPr>
            <p:cNvSpPr txBox="1"/>
            <p:nvPr/>
          </p:nvSpPr>
          <p:spPr>
            <a:xfrm>
              <a:off x="739340" y="2098181"/>
              <a:ext cx="63289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1. topic </a:t>
              </a:r>
              <a:r>
                <a:rPr lang="ko-KR" altLang="en-US" sz="1400"/>
                <a:t>생성 </a:t>
              </a:r>
              <a:r>
                <a:rPr lang="en-US" altLang="ko-KR" sz="1400"/>
                <a:t>(email.send)</a:t>
              </a:r>
              <a:endParaRPr lang="ko-KR" altLang="en-US" sz="140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3E05446-68B6-4AE7-2B10-9D26A8F45A40}"/>
              </a:ext>
            </a:extLst>
          </p:cNvPr>
          <p:cNvGrpSpPr/>
          <p:nvPr/>
        </p:nvGrpSpPr>
        <p:grpSpPr>
          <a:xfrm>
            <a:off x="710760" y="2599784"/>
            <a:ext cx="10831437" cy="1017997"/>
            <a:chOff x="739340" y="2581897"/>
            <a:chExt cx="10831437" cy="101799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70F8BC3-22A2-722E-8792-FF7A589FD3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9340" y="2581897"/>
              <a:ext cx="10831437" cy="714475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CB5B7DB-A417-2019-8F68-A96EE396EB48}"/>
                </a:ext>
              </a:extLst>
            </p:cNvPr>
            <p:cNvSpPr txBox="1"/>
            <p:nvPr/>
          </p:nvSpPr>
          <p:spPr>
            <a:xfrm>
              <a:off x="739340" y="3292117"/>
              <a:ext cx="60944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2. producer topic(email.send) </a:t>
              </a:r>
              <a:r>
                <a:rPr lang="ko-KR" altLang="en-US" sz="1400"/>
                <a:t>메세지 저장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23FFB665-8AB7-06A7-A57D-FB6B1DC15141}"/>
              </a:ext>
            </a:extLst>
          </p:cNvPr>
          <p:cNvSpPr txBox="1"/>
          <p:nvPr/>
        </p:nvSpPr>
        <p:spPr>
          <a:xfrm>
            <a:off x="163640" y="4446126"/>
            <a:ext cx="9062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/>
              <a:t>3. consumer</a:t>
            </a:r>
            <a:r>
              <a:rPr lang="ko-KR" altLang="en-US" sz="1400"/>
              <a:t>에서 컨슈머 그룹명 지정 및 처음부터 메세지 조회 </a:t>
            </a:r>
            <a:r>
              <a:rPr lang="en-US" altLang="ko-KR" sz="1400"/>
              <a:t>(offset </a:t>
            </a:r>
            <a:r>
              <a:rPr lang="ko-KR" altLang="en-US" sz="1400"/>
              <a:t>초기화</a:t>
            </a:r>
            <a:r>
              <a:rPr lang="en-US" altLang="ko-KR" sz="1400"/>
              <a:t>=3)</a:t>
            </a:r>
            <a:endParaRPr lang="ko-KR" altLang="en-US" sz="14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41F0D1-412A-7BEE-6846-2A29E1DBA57C}"/>
              </a:ext>
            </a:extLst>
          </p:cNvPr>
          <p:cNvSpPr txBox="1"/>
          <p:nvPr/>
        </p:nvSpPr>
        <p:spPr>
          <a:xfrm>
            <a:off x="163639" y="5962595"/>
            <a:ext cx="9062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/>
              <a:t>4. consumer </a:t>
            </a:r>
            <a:r>
              <a:rPr lang="ko-KR" altLang="en-US" sz="1400"/>
              <a:t>그룹</a:t>
            </a:r>
            <a:r>
              <a:rPr lang="en-US" altLang="ko-KR" sz="1400"/>
              <a:t>(send-email-group)</a:t>
            </a:r>
            <a:r>
              <a:rPr lang="ko-KR" altLang="en-US" sz="1400"/>
              <a:t>의 상세정보 확인 </a:t>
            </a:r>
            <a:r>
              <a:rPr lang="en-US" altLang="ko-KR" sz="1400"/>
              <a:t>(current-offset =3)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98366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6D935C-2B26-FF0C-BCA8-BE51A70B5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실습 시나리오 확인</a:t>
            </a:r>
            <a:r>
              <a:rPr lang="en-US" altLang="ko-KR"/>
              <a:t>(2)</a:t>
            </a:r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621BC52-9B0F-14A6-9D55-D7B4D980348C}"/>
              </a:ext>
            </a:extLst>
          </p:cNvPr>
          <p:cNvGrpSpPr/>
          <p:nvPr/>
        </p:nvGrpSpPr>
        <p:grpSpPr>
          <a:xfrm>
            <a:off x="723150" y="1970959"/>
            <a:ext cx="10745700" cy="736462"/>
            <a:chOff x="723150" y="1970959"/>
            <a:chExt cx="10745700" cy="73646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94B39DCB-B0A7-58C6-F03D-419CC79F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3150" y="1970959"/>
              <a:ext cx="10745700" cy="428685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30452FC-C12D-4B0E-2D9F-F35B44733E6B}"/>
                </a:ext>
              </a:extLst>
            </p:cNvPr>
            <p:cNvSpPr txBox="1"/>
            <p:nvPr/>
          </p:nvSpPr>
          <p:spPr>
            <a:xfrm>
              <a:off x="723150" y="2399644"/>
              <a:ext cx="60944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5. producer</a:t>
              </a:r>
              <a:r>
                <a:rPr lang="ko-KR" altLang="en-US" sz="1400"/>
                <a:t>를 통해 </a:t>
              </a:r>
              <a:r>
                <a:rPr lang="en-US" altLang="ko-KR" sz="1400"/>
                <a:t>email.send </a:t>
              </a:r>
              <a:r>
                <a:rPr lang="ko-KR" altLang="en-US" sz="1400"/>
                <a:t>토픽에 신규 메세지 저장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420A6EA-8FFF-AF1F-54D8-583D927408B6}"/>
              </a:ext>
            </a:extLst>
          </p:cNvPr>
          <p:cNvGrpSpPr/>
          <p:nvPr/>
        </p:nvGrpSpPr>
        <p:grpSpPr>
          <a:xfrm>
            <a:off x="163640" y="3086286"/>
            <a:ext cx="11864719" cy="773828"/>
            <a:chOff x="163640" y="3086286"/>
            <a:chExt cx="11864719" cy="77382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E09641A-66D4-4D36-D980-07907746A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640" y="3086286"/>
              <a:ext cx="11864719" cy="39496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F35CF08-D7B4-C3C8-9E8E-1E5D89806F45}"/>
                </a:ext>
              </a:extLst>
            </p:cNvPr>
            <p:cNvSpPr txBox="1"/>
            <p:nvPr/>
          </p:nvSpPr>
          <p:spPr>
            <a:xfrm>
              <a:off x="163640" y="3552337"/>
              <a:ext cx="748074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6. consumer </a:t>
              </a:r>
              <a:r>
                <a:rPr lang="ko-KR" altLang="en-US" sz="1400"/>
                <a:t>의 컨슈머 그룹 </a:t>
              </a:r>
              <a:r>
                <a:rPr lang="en-US" altLang="ko-KR" sz="1400"/>
                <a:t>- email.send</a:t>
              </a:r>
              <a:r>
                <a:rPr lang="ko-KR" altLang="en-US" sz="1400"/>
                <a:t> 토픽의 </a:t>
              </a:r>
              <a:r>
                <a:rPr lang="en-US" altLang="ko-KR" sz="1400"/>
                <a:t>offset </a:t>
              </a:r>
              <a:r>
                <a:rPr lang="ko-KR" altLang="en-US" sz="1400"/>
                <a:t>에 해당하는 메세지 확인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D3441E3-AD9F-442C-E039-FF826477073E}"/>
              </a:ext>
            </a:extLst>
          </p:cNvPr>
          <p:cNvGrpSpPr/>
          <p:nvPr/>
        </p:nvGrpSpPr>
        <p:grpSpPr>
          <a:xfrm>
            <a:off x="163639" y="4233672"/>
            <a:ext cx="11864720" cy="1363654"/>
            <a:chOff x="163640" y="4562856"/>
            <a:chExt cx="11864720" cy="136365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32A902D-9E08-40EA-77C8-A5CA9B84ED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640" y="4562856"/>
              <a:ext cx="11864720" cy="105587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AA2618A-30BB-75FC-EC0E-611A8EF9C8F1}"/>
                </a:ext>
              </a:extLst>
            </p:cNvPr>
            <p:cNvSpPr txBox="1"/>
            <p:nvPr/>
          </p:nvSpPr>
          <p:spPr>
            <a:xfrm>
              <a:off x="163640" y="5618733"/>
              <a:ext cx="60944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/>
                <a:t>7. consumer </a:t>
              </a:r>
              <a:r>
                <a:rPr lang="ko-KR" altLang="en-US" sz="1400"/>
                <a:t>의 컨슈머 그룹 상세정보 확인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647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51DA0-672B-FD92-33DA-DCAAB0A47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토픽 </a:t>
            </a:r>
            <a:r>
              <a:rPr lang="en-US" altLang="ko-KR" sz="3600"/>
              <a:t>/ </a:t>
            </a:r>
            <a:r>
              <a:rPr lang="ko-KR" altLang="en-US" sz="3600"/>
              <a:t>컨슈머 그룹 네이밍 컨벤션 참고자료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326485-3587-BE20-62F9-A7383DA9F670}"/>
              </a:ext>
            </a:extLst>
          </p:cNvPr>
          <p:cNvSpPr txBox="1"/>
          <p:nvPr/>
        </p:nvSpPr>
        <p:spPr>
          <a:xfrm>
            <a:off x="1097280" y="1881878"/>
            <a:ext cx="60944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>
                <a:hlinkClick r:id="rId2"/>
              </a:rPr>
              <a:t>https://data-engineer-tech.tistory.com/36</a:t>
            </a:r>
            <a:endParaRPr lang="en-US" altLang="ko-KR"/>
          </a:p>
          <a:p>
            <a:r>
              <a:rPr lang="en-US" altLang="ko-KR">
                <a:hlinkClick r:id="rId3"/>
              </a:rPr>
              <a:t>https://digitalbourgeois.tistory.com/269#google_vignette</a:t>
            </a:r>
            <a:endParaRPr lang="en-US" altLang="ko-KR"/>
          </a:p>
          <a:p>
            <a:r>
              <a:rPr lang="ko-KR" altLang="en-US" b="1" u="sng">
                <a:hlinkClick r:id="rId4"/>
              </a:rPr>
              <a:t>카프카 토픽 이름 정하기 </a:t>
            </a:r>
            <a:r>
              <a:rPr lang="en-US" altLang="ko-KR" b="1" u="sng">
                <a:hlinkClick r:id="rId4"/>
              </a:rPr>
              <a:t>(Kafka Topic Naming Conventions)</a:t>
            </a:r>
            <a:endParaRPr lang="en-US" altLang="ko-KR" b="1" u="sng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008066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187</TotalTime>
  <Words>660</Words>
  <Application>Microsoft Office PowerPoint</Application>
  <PresentationFormat>와이드스크린</PresentationFormat>
  <Paragraphs>64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Calibri</vt:lpstr>
      <vt:lpstr>Calibri Light</vt:lpstr>
      <vt:lpstr>Wingdings</vt:lpstr>
      <vt:lpstr>추억</vt:lpstr>
      <vt:lpstr>Kafka 기본 개념</vt:lpstr>
      <vt:lpstr>Kafka의 구조</vt:lpstr>
      <vt:lpstr>토픽 생성 / 조회 / 삭제</vt:lpstr>
      <vt:lpstr>토픽 생성/조회/삭제</vt:lpstr>
      <vt:lpstr>CLI 환경에서 Topic에 메세지 전달</vt:lpstr>
      <vt:lpstr>Topic에 메세지 전달</vt:lpstr>
      <vt:lpstr>Kafka와 RabbitMQ 의 차이</vt:lpstr>
      <vt:lpstr>CLI환경 consumer의 동작(실시간 확인)</vt:lpstr>
      <vt:lpstr>producer의 빈 값입력(번외[강의 내용X])</vt:lpstr>
      <vt:lpstr>컨슈머 그룹에 의한 offset 개념</vt:lpstr>
      <vt:lpstr>메세지를 어디까지 읽었는지 기억하고 그 다음메세지 부터 처리하기</vt:lpstr>
      <vt:lpstr>실습 시나리오 확인</vt:lpstr>
      <vt:lpstr>실습 시나리오 확인(2)</vt:lpstr>
      <vt:lpstr>토픽 / 컨슈머 그룹 네이밍 컨벤션 참고자료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22</cp:revision>
  <dcterms:created xsi:type="dcterms:W3CDTF">2026-08-11T07:18:38Z</dcterms:created>
  <dcterms:modified xsi:type="dcterms:W3CDTF">2026-08-11T10:26:36Z</dcterms:modified>
</cp:coreProperties>
</file>