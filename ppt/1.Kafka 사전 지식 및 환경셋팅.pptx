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FE510A0-01BA-4914-A3E3-62C247955187}">
          <p14:sldIdLst>
            <p14:sldId id="256"/>
          </p14:sldIdLst>
        </p14:section>
        <p14:section name="Kafka 사전지식" id="{B22CD623-FBDA-4800-8880-BE9DF81EBCB0}">
          <p14:sldIdLst>
            <p14:sldId id="258"/>
            <p14:sldId id="257"/>
          </p14:sldIdLst>
        </p14:section>
        <p14:section name="Kafka 환경 셋팅(EC2)" id="{F3BD9215-4DB3-4717-8B09-D1885EC7B38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Kafka 설치" id="{D8395DA7-7AB4-4A36-B5A9-AE5A218E5AC5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724B-EF17-47EB-896B-48FE094B37A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4E29-1198-4C17-AE1C-396707A04FB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221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724B-EF17-47EB-896B-48FE094B37A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4E29-1198-4C17-AE1C-396707A04F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92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724B-EF17-47EB-896B-48FE094B37A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4E29-1198-4C17-AE1C-396707A04FB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81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724B-EF17-47EB-896B-48FE094B37A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4E29-1198-4C17-AE1C-396707A04F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882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724B-EF17-47EB-896B-48FE094B37A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4E29-1198-4C17-AE1C-396707A04F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97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724B-EF17-47EB-896B-48FE094B37A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4E29-1198-4C17-AE1C-396707A04F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360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724B-EF17-47EB-896B-48FE094B37A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4E29-1198-4C17-AE1C-396707A04F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25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A0C724B-EF17-47EB-896B-48FE094B37A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054E29-1198-4C17-AE1C-396707A04F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722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724B-EF17-47EB-896B-48FE094B37A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4E29-1198-4C17-AE1C-396707A04F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47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724B-EF17-47EB-896B-48FE094B37A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4E29-1198-4C17-AE1C-396707A04F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97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724B-EF17-47EB-896B-48FE094B37A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4E29-1198-4C17-AE1C-396707A04F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53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A0C724B-EF17-47EB-896B-48FE094B37A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6054E29-1198-4C17-AE1C-396707A04FB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16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lcdn.apache.org/kafka/4.1.2/kafka_2.13-4.1.2.tgz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6C3F8-E89A-1E00-9DA3-CF866F5D69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Kafka </a:t>
            </a:r>
            <a:r>
              <a:rPr lang="ko-KR" altLang="en-US"/>
              <a:t>개요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33034A-E653-7377-32C4-E5A55420C8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507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078EC-9525-F7B9-D07A-77E0507C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 </a:t>
            </a:r>
            <a:r>
              <a:rPr lang="ko-KR" altLang="en-US"/>
              <a:t>정의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C00807-15A3-2490-920A-32E8D2F183AE}"/>
              </a:ext>
            </a:extLst>
          </p:cNvPr>
          <p:cNvSpPr txBox="1"/>
          <p:nvPr/>
        </p:nvSpPr>
        <p:spPr>
          <a:xfrm>
            <a:off x="1106424" y="1911096"/>
            <a:ext cx="10113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Kafka : </a:t>
            </a:r>
            <a:r>
              <a:rPr lang="ko-KR" altLang="en-US"/>
              <a:t>대규모 데이터를 처리할 수 있는 메시지 큐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             </a:t>
            </a:r>
            <a:r>
              <a:rPr lang="ko-KR" altLang="en-US"/>
              <a:t>큐 형태에 데이터를 일시적으로 저장하는 임시 저장소</a:t>
            </a:r>
          </a:p>
        </p:txBody>
      </p:sp>
    </p:spTree>
    <p:extLst>
      <p:ext uri="{BB962C8B-B14F-4D97-AF65-F5344CB8AC3E}">
        <p14:creationId xmlns:p14="http://schemas.microsoft.com/office/powerpoint/2010/main" val="3602550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8794D62-247E-11E9-526F-2B302B57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Rest API VS</a:t>
            </a:r>
            <a:r>
              <a:rPr lang="ko-KR" altLang="en-US"/>
              <a:t> </a:t>
            </a:r>
            <a:r>
              <a:rPr lang="en-US" altLang="ko-KR"/>
              <a:t>Kafka</a:t>
            </a:r>
            <a:r>
              <a:rPr lang="ko-KR" altLang="en-US"/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31A16E6-034B-0251-26E2-584F00321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850861"/>
            <a:ext cx="4352187" cy="25016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26D5DE-E25C-47CB-7991-E31CA97FD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3" y="1850861"/>
            <a:ext cx="6824472" cy="17307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4BB746-E71F-BA95-4117-FFE504DD1878}"/>
              </a:ext>
            </a:extLst>
          </p:cNvPr>
          <p:cNvSpPr txBox="1"/>
          <p:nvPr/>
        </p:nvSpPr>
        <p:spPr>
          <a:xfrm>
            <a:off x="438912" y="4480560"/>
            <a:ext cx="114421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RestAPI</a:t>
            </a:r>
            <a:r>
              <a:rPr lang="ko-KR" altLang="en-US" sz="1200"/>
              <a:t> 방식 </a:t>
            </a:r>
            <a:r>
              <a:rPr lang="en-US" altLang="ko-KR" sz="1200"/>
              <a:t>: </a:t>
            </a:r>
            <a:r>
              <a:rPr lang="ko-KR" altLang="en-US" sz="1200"/>
              <a:t>동기적 요청 방식 </a:t>
            </a:r>
            <a:r>
              <a:rPr lang="en-US" altLang="ko-KR" sz="1200"/>
              <a:t>– </a:t>
            </a:r>
            <a:r>
              <a:rPr lang="ko-KR" altLang="en-US" sz="1200"/>
              <a:t>회원가입시 가입정상처리 이메일 발송 요청 </a:t>
            </a:r>
            <a:r>
              <a:rPr lang="en-US" altLang="ko-KR" sz="1200">
                <a:sym typeface="Wingdings" panose="05000000000000000000" pitchFamily="2" charset="2"/>
              </a:rPr>
              <a:t></a:t>
            </a:r>
            <a:r>
              <a:rPr lang="en-US" altLang="ko-KR" sz="1200"/>
              <a:t> </a:t>
            </a:r>
            <a:r>
              <a:rPr lang="ko-KR" altLang="en-US" sz="1200"/>
              <a:t>이메일 서버로 부터 이메일 전송 완료 응답</a:t>
            </a:r>
            <a:br>
              <a:rPr lang="en-US" altLang="ko-KR" sz="1200"/>
            </a:br>
            <a:r>
              <a:rPr lang="en-US" altLang="ko-KR" sz="1200"/>
              <a:t>                                                                 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/>
              <a:t> 회원가입 이메일 전송 완료 응답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KafKa </a:t>
            </a:r>
            <a:r>
              <a:rPr lang="ko-KR" altLang="en-US" sz="1200"/>
              <a:t>메시지 큐 방식 </a:t>
            </a:r>
            <a:r>
              <a:rPr lang="en-US" altLang="ko-KR" sz="1200"/>
              <a:t>: </a:t>
            </a:r>
            <a:r>
              <a:rPr lang="ko-KR" altLang="en-US" sz="1200"/>
              <a:t>비동기적 요청 방식 </a:t>
            </a:r>
            <a:r>
              <a:rPr lang="en-US" altLang="ko-KR" sz="1200"/>
              <a:t>– </a:t>
            </a:r>
            <a:r>
              <a:rPr lang="ko-KR" altLang="en-US" sz="1200"/>
              <a:t>회원가입시 가입정상처리 이메일 발송 요청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회원가입 이메일 전송 완료 메세지 전달 </a:t>
            </a:r>
            <a:r>
              <a:rPr lang="en-US" altLang="ko-KR" sz="1200">
                <a:sym typeface="Wingdings" panose="05000000000000000000" pitchFamily="2" charset="2"/>
              </a:rPr>
              <a:t>(</a:t>
            </a:r>
            <a:r>
              <a:rPr lang="ko-KR" altLang="en-US" sz="1200">
                <a:sym typeface="Wingdings" panose="05000000000000000000" pitchFamily="2" charset="2"/>
              </a:rPr>
              <a:t>사용자 응답완료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  <a:br>
              <a:rPr lang="en-US" altLang="ko-KR" sz="1200">
                <a:sym typeface="Wingdings" panose="05000000000000000000" pitchFamily="2" charset="2"/>
              </a:rPr>
            </a:b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BackGround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:</a:t>
            </a:r>
            <a:r>
              <a:rPr lang="ko-KR" altLang="en-US" sz="1200">
                <a:sym typeface="Wingdings" panose="05000000000000000000" pitchFamily="2" charset="2"/>
              </a:rPr>
              <a:t> 메시지 전달과 동시에 이메일 발송 요청을 메시지 큐에 저장</a:t>
            </a:r>
            <a:r>
              <a:rPr lang="en-US" altLang="ko-KR" sz="1200">
                <a:sym typeface="Wingdings" panose="05000000000000000000" pitchFamily="2" charset="2"/>
              </a:rPr>
              <a:t> (Producer)  Consumer </a:t>
            </a:r>
            <a:r>
              <a:rPr lang="ko-KR" altLang="en-US" sz="1200">
                <a:sym typeface="Wingdings" panose="05000000000000000000" pitchFamily="2" charset="2"/>
              </a:rPr>
              <a:t>서버에서 메시지 큐 </a:t>
            </a:r>
            <a:r>
              <a:rPr lang="en-US" altLang="ko-KR" sz="1200">
                <a:sym typeface="Wingdings" panose="05000000000000000000" pitchFamily="2" charset="2"/>
              </a:rPr>
              <a:t>(Kafka) </a:t>
            </a:r>
            <a:r>
              <a:rPr lang="ko-KR" altLang="en-US" sz="1200">
                <a:sym typeface="Wingdings" panose="05000000000000000000" pitchFamily="2" charset="2"/>
              </a:rPr>
              <a:t>로 부터 큐 순서에 따라 처리</a:t>
            </a: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ko-KR" altLang="en-US" sz="1200" b="1">
                <a:solidFill>
                  <a:srgbClr val="FF0000"/>
                </a:solidFill>
                <a:sym typeface="Wingdings" panose="05000000000000000000" pitchFamily="2" charset="2"/>
              </a:rPr>
              <a:t>사용자 요청에 대한 비동기적 처리로 응답이 빠르다</a:t>
            </a:r>
            <a:r>
              <a:rPr lang="en-US" altLang="ko-KR" sz="1200" b="1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  <a:endParaRPr lang="ko-KR" altLang="en-US" sz="12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743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15A16-4885-2134-B106-01B2051EC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</a:t>
            </a:r>
            <a:r>
              <a:rPr lang="ko-KR" altLang="en-US"/>
              <a:t> 서버 설정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B7989-EEAB-EE26-1DD3-4BCF2E16F407}"/>
              </a:ext>
            </a:extLst>
          </p:cNvPr>
          <p:cNvSpPr txBox="1"/>
          <p:nvPr/>
        </p:nvSpPr>
        <p:spPr>
          <a:xfrm>
            <a:off x="1097280" y="1874520"/>
            <a:ext cx="10076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1. AWS </a:t>
            </a:r>
            <a:r>
              <a:rPr lang="ko-KR" altLang="en-US" sz="1400"/>
              <a:t>는 신규회원에 대해 </a:t>
            </a:r>
            <a:r>
              <a:rPr lang="en-US" altLang="ko-KR" sz="1400"/>
              <a:t>6</a:t>
            </a:r>
            <a:r>
              <a:rPr lang="ko-KR" altLang="en-US" sz="1400"/>
              <a:t>개월의 무료 플랜을 제공한다</a:t>
            </a:r>
            <a:r>
              <a:rPr lang="en-US" altLang="ko-KR" sz="1400"/>
              <a:t>. </a:t>
            </a:r>
            <a:r>
              <a:rPr lang="ko-KR" altLang="en-US" sz="1400"/>
              <a:t>가입한 </a:t>
            </a:r>
            <a:r>
              <a:rPr lang="en-US" altLang="ko-KR" sz="1400"/>
              <a:t>gmail</a:t>
            </a:r>
            <a:r>
              <a:rPr lang="ko-KR" altLang="en-US" sz="1400"/>
              <a:t>을 통해 신규 가입후 실습을 진행한다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AC3FD6-0587-A551-3B3C-642062543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474905"/>
            <a:ext cx="5096586" cy="33532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E7C3D3F-F20D-049D-A0B0-DDBD6152BBFC}"/>
              </a:ext>
            </a:extLst>
          </p:cNvPr>
          <p:cNvSpPr/>
          <p:nvPr/>
        </p:nvSpPr>
        <p:spPr>
          <a:xfrm>
            <a:off x="1581912" y="2935224"/>
            <a:ext cx="1591056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71D667-ACA8-7C4D-23A5-36E0B2707077}"/>
              </a:ext>
            </a:extLst>
          </p:cNvPr>
          <p:cNvSpPr/>
          <p:nvPr/>
        </p:nvSpPr>
        <p:spPr>
          <a:xfrm>
            <a:off x="4498848" y="4809744"/>
            <a:ext cx="484632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55CCAE3-2E51-5985-9F2C-A5EB36CA15BA}"/>
              </a:ext>
            </a:extLst>
          </p:cNvPr>
          <p:cNvCxnSpPr>
            <a:stCxn id="6" idx="2"/>
          </p:cNvCxnSpPr>
          <p:nvPr/>
        </p:nvCxnSpPr>
        <p:spPr>
          <a:xfrm>
            <a:off x="2377440" y="3300984"/>
            <a:ext cx="2121408" cy="16367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476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2F324-9EBA-91D3-ECD1-F717A0A0E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EC2</a:t>
            </a:r>
            <a:r>
              <a:rPr lang="ko-KR" altLang="en-US" sz="3600"/>
              <a:t> 인스턴스 생성 지역 확인 및 인스턴스 시작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FED79DD-0804-4346-8304-3B8909E0630B}"/>
              </a:ext>
            </a:extLst>
          </p:cNvPr>
          <p:cNvGrpSpPr/>
          <p:nvPr/>
        </p:nvGrpSpPr>
        <p:grpSpPr>
          <a:xfrm>
            <a:off x="1305431" y="1805301"/>
            <a:ext cx="10142856" cy="4766096"/>
            <a:chOff x="1305431" y="1805301"/>
            <a:chExt cx="10142856" cy="4766096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A7BAD69-8206-C179-E053-80D07EBDCD4E}"/>
                </a:ext>
              </a:extLst>
            </p:cNvPr>
            <p:cNvGrpSpPr/>
            <p:nvPr/>
          </p:nvGrpSpPr>
          <p:grpSpPr>
            <a:xfrm>
              <a:off x="1305431" y="1805301"/>
              <a:ext cx="2361313" cy="4766096"/>
              <a:chOff x="4560695" y="1916262"/>
              <a:chExt cx="2361313" cy="4766096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654F3EE3-6E79-E642-58FF-68E34F2DA5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b="20931"/>
              <a:stretch>
                <a:fillRect/>
              </a:stretch>
            </p:blipFill>
            <p:spPr>
              <a:xfrm>
                <a:off x="4560695" y="1916262"/>
                <a:ext cx="2361313" cy="4766096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E4E322BA-CB9B-C4AE-5AB3-991924C5EE18}"/>
                  </a:ext>
                </a:extLst>
              </p:cNvPr>
              <p:cNvSpPr/>
              <p:nvPr/>
            </p:nvSpPr>
            <p:spPr>
              <a:xfrm>
                <a:off x="5897880" y="1916262"/>
                <a:ext cx="932688" cy="34230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BF14ECFA-56B9-7D10-229E-F6128B8A6558}"/>
                  </a:ext>
                </a:extLst>
              </p:cNvPr>
              <p:cNvSpPr/>
              <p:nvPr/>
            </p:nvSpPr>
            <p:spPr>
              <a:xfrm>
                <a:off x="4672584" y="4288536"/>
                <a:ext cx="2157983" cy="24688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6D050F3-0009-1CD3-A1E3-13796BF4452F}"/>
                </a:ext>
              </a:extLst>
            </p:cNvPr>
            <p:cNvSpPr txBox="1"/>
            <p:nvPr/>
          </p:nvSpPr>
          <p:spPr>
            <a:xfrm>
              <a:off x="3730751" y="1805301"/>
              <a:ext cx="7717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우측 상단 지역 확인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0CA009B-B1D5-69FD-7CF3-F5552C7DFED1}"/>
              </a:ext>
            </a:extLst>
          </p:cNvPr>
          <p:cNvGrpSpPr/>
          <p:nvPr/>
        </p:nvGrpSpPr>
        <p:grpSpPr>
          <a:xfrm>
            <a:off x="5407990" y="2604490"/>
            <a:ext cx="4363059" cy="2379388"/>
            <a:chOff x="5407990" y="2604490"/>
            <a:chExt cx="4363059" cy="2379388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BBA6030-8E3D-F799-87CB-A2D28A6B2CA8}"/>
                </a:ext>
              </a:extLst>
            </p:cNvPr>
            <p:cNvGrpSpPr/>
            <p:nvPr/>
          </p:nvGrpSpPr>
          <p:grpSpPr>
            <a:xfrm>
              <a:off x="5407990" y="2604490"/>
              <a:ext cx="4363059" cy="2379388"/>
              <a:chOff x="5407990" y="2604490"/>
              <a:chExt cx="4363059" cy="2379388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A3374216-18C6-3F7F-B8C1-F3FCB96DFA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07990" y="2604490"/>
                <a:ext cx="4363059" cy="2010056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09E07E-64EC-3D79-897A-278D0A4B64F1}"/>
                  </a:ext>
                </a:extLst>
              </p:cNvPr>
              <p:cNvSpPr txBox="1"/>
              <p:nvPr/>
            </p:nvSpPr>
            <p:spPr>
              <a:xfrm flipH="1">
                <a:off x="5607121" y="4614546"/>
                <a:ext cx="4021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content </a:t>
                </a:r>
                <a:r>
                  <a:rPr lang="ko-KR" altLang="en-US"/>
                  <a:t>내 인스턴스 시작 클릭</a:t>
                </a:r>
              </a:p>
            </p:txBody>
          </p:sp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DB5372A-638A-5E19-B60F-DB00D43998E6}"/>
                </a:ext>
              </a:extLst>
            </p:cNvPr>
            <p:cNvSpPr/>
            <p:nvPr/>
          </p:nvSpPr>
          <p:spPr>
            <a:xfrm>
              <a:off x="5660136" y="3576263"/>
              <a:ext cx="1600200" cy="3373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046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60D398-6DB2-6C90-5D19-4A1832BFA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인스턴스 설정</a:t>
            </a:r>
            <a:r>
              <a:rPr lang="en-US" altLang="ko-KR"/>
              <a:t>(1)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542DBBF-BB5C-067A-3129-4CC179EF3D2B}"/>
              </a:ext>
            </a:extLst>
          </p:cNvPr>
          <p:cNvGrpSpPr/>
          <p:nvPr/>
        </p:nvGrpSpPr>
        <p:grpSpPr>
          <a:xfrm>
            <a:off x="1097280" y="1861664"/>
            <a:ext cx="2391109" cy="1324160"/>
            <a:chOff x="1097280" y="1861664"/>
            <a:chExt cx="2391109" cy="132416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A2B9BB5-3B73-DC37-C2A8-16A345389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61664"/>
              <a:ext cx="2391109" cy="13241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DB6BEFC-29D2-9E69-56C6-4368593BD044}"/>
                </a:ext>
              </a:extLst>
            </p:cNvPr>
            <p:cNvSpPr/>
            <p:nvPr/>
          </p:nvSpPr>
          <p:spPr>
            <a:xfrm>
              <a:off x="3099816" y="1861664"/>
              <a:ext cx="388573" cy="3474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1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F2234F6-80AC-035A-1B1B-0927C934C16A}"/>
              </a:ext>
            </a:extLst>
          </p:cNvPr>
          <p:cNvGrpSpPr/>
          <p:nvPr/>
        </p:nvGrpSpPr>
        <p:grpSpPr>
          <a:xfrm>
            <a:off x="3652655" y="1861664"/>
            <a:ext cx="5125585" cy="3909242"/>
            <a:chOff x="3826391" y="1965960"/>
            <a:chExt cx="5125585" cy="390924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E2649C8-11CD-A016-CB09-C38092055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26391" y="1965960"/>
              <a:ext cx="5125585" cy="39092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E6C8538-2010-1A19-C7D5-DF403D613085}"/>
                </a:ext>
              </a:extLst>
            </p:cNvPr>
            <p:cNvSpPr/>
            <p:nvPr/>
          </p:nvSpPr>
          <p:spPr>
            <a:xfrm>
              <a:off x="8563403" y="1965960"/>
              <a:ext cx="388573" cy="3474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2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960F292-BD70-9375-D0D7-4611CF4B7B9F}"/>
              </a:ext>
            </a:extLst>
          </p:cNvPr>
          <p:cNvSpPr txBox="1"/>
          <p:nvPr/>
        </p:nvSpPr>
        <p:spPr>
          <a:xfrm>
            <a:off x="8778240" y="1861664"/>
            <a:ext cx="27066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Ubuntu OS </a:t>
            </a:r>
            <a:r>
              <a:rPr lang="ko-KR" altLang="en-US" sz="1400"/>
              <a:t>설정</a:t>
            </a:r>
            <a:endParaRPr lang="en-US" altLang="ko-KR" sz="1400"/>
          </a:p>
          <a:p>
            <a:r>
              <a:rPr lang="ko-KR" altLang="en-US" sz="1400"/>
              <a:t>아마존 머신 이미지 선택</a:t>
            </a:r>
            <a:r>
              <a:rPr lang="en-US" altLang="ko-KR" sz="1400"/>
              <a:t>(</a:t>
            </a:r>
            <a:r>
              <a:rPr lang="ko-KR" altLang="en-US" sz="1400"/>
              <a:t>기본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아키텍쳐 설정</a:t>
            </a:r>
            <a:r>
              <a:rPr lang="en-US" altLang="ko-KR" sz="1400"/>
              <a:t>(</a:t>
            </a:r>
            <a:r>
              <a:rPr lang="ko-KR" altLang="en-US" sz="1400"/>
              <a:t>기본</a:t>
            </a:r>
            <a:r>
              <a:rPr lang="en-US" altLang="ko-KR" sz="14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8747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2822B-15F8-D7ED-B87A-F6F5F4772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73B24-CDB7-E68A-9927-BE4CC8EC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인스턴스 설정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385C2E-8ED0-6FFB-3F81-927EC46A422C}"/>
              </a:ext>
            </a:extLst>
          </p:cNvPr>
          <p:cNvSpPr txBox="1"/>
          <p:nvPr/>
        </p:nvSpPr>
        <p:spPr>
          <a:xfrm>
            <a:off x="7150608" y="1861664"/>
            <a:ext cx="2706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인스턴스 유형 설정 </a:t>
            </a:r>
            <a:r>
              <a:rPr lang="en-US" altLang="ko-KR" sz="1400"/>
              <a:t>(</a:t>
            </a:r>
            <a:r>
              <a:rPr lang="ko-KR" altLang="en-US" sz="1400"/>
              <a:t>기본</a:t>
            </a:r>
            <a:r>
              <a:rPr lang="en-US" altLang="ko-KR" sz="1400"/>
              <a:t>)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B76CE00-1989-ADFE-B233-7C08A49E792A}"/>
              </a:ext>
            </a:extLst>
          </p:cNvPr>
          <p:cNvGrpSpPr/>
          <p:nvPr/>
        </p:nvGrpSpPr>
        <p:grpSpPr>
          <a:xfrm>
            <a:off x="814367" y="1861664"/>
            <a:ext cx="6336241" cy="1274368"/>
            <a:chOff x="814367" y="1861664"/>
            <a:chExt cx="6336241" cy="127436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D00D843-AC9A-EAC8-1B42-5F76E3A9B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4367" y="1861664"/>
              <a:ext cx="6336241" cy="12743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BAFF022-F1E4-33F0-57F0-252FE0B5E828}"/>
                </a:ext>
              </a:extLst>
            </p:cNvPr>
            <p:cNvSpPr/>
            <p:nvPr/>
          </p:nvSpPr>
          <p:spPr>
            <a:xfrm>
              <a:off x="6762035" y="1873183"/>
              <a:ext cx="388573" cy="3474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3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D021E80-8CEB-D3B5-F14B-0A03B5A092FE}"/>
              </a:ext>
            </a:extLst>
          </p:cNvPr>
          <p:cNvSpPr txBox="1"/>
          <p:nvPr/>
        </p:nvSpPr>
        <p:spPr>
          <a:xfrm>
            <a:off x="7150608" y="3340820"/>
            <a:ext cx="38953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키 페어 없음 진행</a:t>
            </a:r>
            <a:r>
              <a:rPr lang="en-US" altLang="ko-KR" sz="1050"/>
              <a:t>(</a:t>
            </a:r>
            <a:r>
              <a:rPr lang="ko-KR" altLang="en-US" sz="1050"/>
              <a:t>편의를 위한 옵션</a:t>
            </a:r>
            <a:r>
              <a:rPr lang="en-US" altLang="ko-KR" sz="1050"/>
              <a:t>)</a:t>
            </a:r>
            <a:r>
              <a:rPr lang="ko-KR" altLang="en-US" sz="1050"/>
              <a:t> </a:t>
            </a:r>
            <a:br>
              <a:rPr lang="en-US" altLang="ko-KR" sz="1050"/>
            </a:br>
            <a:r>
              <a:rPr lang="en-US" altLang="ko-KR" sz="1050"/>
              <a:t>- </a:t>
            </a:r>
            <a:r>
              <a:rPr lang="ko-KR" altLang="en-US" sz="1050"/>
              <a:t>실 운영에서는 운영팀의 성격에 따라 키페어를 사용할 수 있음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0BE66E8-F031-36EA-6CA1-F3C896C2687F}"/>
              </a:ext>
            </a:extLst>
          </p:cNvPr>
          <p:cNvGrpSpPr/>
          <p:nvPr/>
        </p:nvGrpSpPr>
        <p:grpSpPr>
          <a:xfrm>
            <a:off x="814367" y="3331315"/>
            <a:ext cx="6336241" cy="1360804"/>
            <a:chOff x="814367" y="3331315"/>
            <a:chExt cx="6336241" cy="1360804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62FF2B8-B15B-1A6A-713C-903A2A268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4367" y="3331315"/>
              <a:ext cx="6336241" cy="13608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67AA910-1972-8D85-4A58-3ADC7B0378BE}"/>
                </a:ext>
              </a:extLst>
            </p:cNvPr>
            <p:cNvSpPr/>
            <p:nvPr/>
          </p:nvSpPr>
          <p:spPr>
            <a:xfrm>
              <a:off x="6762035" y="3331315"/>
              <a:ext cx="388573" cy="3474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4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0104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A9916-B461-9CCA-A721-9DA99B5C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인스턴스 설정</a:t>
            </a:r>
            <a:r>
              <a:rPr lang="en-US" altLang="ko-KR"/>
              <a:t>(3)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4970AF-4A32-6240-FF76-097144281FF9}"/>
              </a:ext>
            </a:extLst>
          </p:cNvPr>
          <p:cNvGrpSpPr/>
          <p:nvPr/>
        </p:nvGrpSpPr>
        <p:grpSpPr>
          <a:xfrm>
            <a:off x="1097280" y="1901952"/>
            <a:ext cx="4585512" cy="1975104"/>
            <a:chOff x="1097280" y="1901952"/>
            <a:chExt cx="4585512" cy="197510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D96B15C-8D13-0CFA-FE36-55F4DBA91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650" t="46399" r="37675" b="11734"/>
            <a:stretch>
              <a:fillRect/>
            </a:stretch>
          </p:blipFill>
          <p:spPr>
            <a:xfrm>
              <a:off x="1097280" y="1901952"/>
              <a:ext cx="4585512" cy="1975104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55F45AB-9D63-E998-086C-A9683E3A1043}"/>
                </a:ext>
              </a:extLst>
            </p:cNvPr>
            <p:cNvSpPr/>
            <p:nvPr/>
          </p:nvSpPr>
          <p:spPr>
            <a:xfrm>
              <a:off x="5184648" y="1901952"/>
              <a:ext cx="411480" cy="3108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C838E5-9B33-F1A9-E5E3-FB546CFBD4DE}"/>
              </a:ext>
            </a:extLst>
          </p:cNvPr>
          <p:cNvSpPr/>
          <p:nvPr/>
        </p:nvSpPr>
        <p:spPr>
          <a:xfrm>
            <a:off x="4709411" y="1901952"/>
            <a:ext cx="388573" cy="347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8D9A2-2CEF-A6B0-9402-4C997CDA040D}"/>
              </a:ext>
            </a:extLst>
          </p:cNvPr>
          <p:cNvSpPr txBox="1"/>
          <p:nvPr/>
        </p:nvSpPr>
        <p:spPr>
          <a:xfrm>
            <a:off x="1097280" y="4010644"/>
            <a:ext cx="606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네트워크 설정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편집버튼 클릭</a:t>
            </a:r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5744CB0-A726-257D-57FC-CA398576554B}"/>
              </a:ext>
            </a:extLst>
          </p:cNvPr>
          <p:cNvGrpSpPr/>
          <p:nvPr/>
        </p:nvGrpSpPr>
        <p:grpSpPr>
          <a:xfrm>
            <a:off x="5944495" y="1901952"/>
            <a:ext cx="6247505" cy="4954115"/>
            <a:chOff x="5944495" y="1901952"/>
            <a:chExt cx="6247505" cy="4954115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87A260A-177E-40C6-4C12-782D633E2024}"/>
                </a:ext>
              </a:extLst>
            </p:cNvPr>
            <p:cNvGrpSpPr/>
            <p:nvPr/>
          </p:nvGrpSpPr>
          <p:grpSpPr>
            <a:xfrm>
              <a:off x="5944495" y="1901952"/>
              <a:ext cx="4900289" cy="4954115"/>
              <a:chOff x="5944495" y="1901952"/>
              <a:chExt cx="4900289" cy="4954115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7F3B0DA3-77F0-3D90-07DE-79AC4F68825B}"/>
                  </a:ext>
                </a:extLst>
              </p:cNvPr>
              <p:cNvGrpSpPr/>
              <p:nvPr/>
            </p:nvGrpSpPr>
            <p:grpSpPr>
              <a:xfrm>
                <a:off x="5944495" y="1901952"/>
                <a:ext cx="4900289" cy="4954115"/>
                <a:chOff x="5944495" y="1901952"/>
                <a:chExt cx="4900289" cy="4954115"/>
              </a:xfrm>
            </p:grpSpPr>
            <p:pic>
              <p:nvPicPr>
                <p:cNvPr id="12" name="그림 11">
                  <a:extLst>
                    <a:ext uri="{FF2B5EF4-FFF2-40B4-BE49-F238E27FC236}">
                      <a16:creationId xmlns:a16="http://schemas.microsoft.com/office/drawing/2014/main" id="{2F1BA16C-5267-FCBE-BDD1-756937761A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44495" y="1901952"/>
                  <a:ext cx="4900289" cy="4919064"/>
                </a:xfrm>
                <a:prstGeom prst="rect">
                  <a:avLst/>
                </a:prstGeom>
              </p:spPr>
            </p:pic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2877EBD3-D114-4091-18EE-CAA4E7EBBB8E}"/>
                    </a:ext>
                  </a:extLst>
                </p:cNvPr>
                <p:cNvSpPr/>
                <p:nvPr/>
              </p:nvSpPr>
              <p:spPr>
                <a:xfrm>
                  <a:off x="6013704" y="3941064"/>
                  <a:ext cx="3157728" cy="84124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489094EF-D0C6-0C42-C30D-489D4B0FE69C}"/>
                    </a:ext>
                  </a:extLst>
                </p:cNvPr>
                <p:cNvSpPr/>
                <p:nvPr/>
              </p:nvSpPr>
              <p:spPr>
                <a:xfrm>
                  <a:off x="6013704" y="5291328"/>
                  <a:ext cx="1603248" cy="84124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5AF4E5B6-C0B3-1129-782E-F98DC308A9A0}"/>
                    </a:ext>
                  </a:extLst>
                </p:cNvPr>
                <p:cNvSpPr/>
                <p:nvPr/>
              </p:nvSpPr>
              <p:spPr>
                <a:xfrm>
                  <a:off x="5989320" y="6571396"/>
                  <a:ext cx="868680" cy="284671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3929138C-42B9-67B3-99B1-D91BF207E996}"/>
                  </a:ext>
                </a:extLst>
              </p:cNvPr>
              <p:cNvSpPr/>
              <p:nvPr/>
            </p:nvSpPr>
            <p:spPr>
              <a:xfrm>
                <a:off x="10443343" y="1901952"/>
                <a:ext cx="388573" cy="3474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chemeClr val="tx1"/>
                    </a:solidFill>
                  </a:rPr>
                  <a:t>6</a:t>
                </a:r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E0B8C19-02B8-C72B-0DDD-28433870198B}"/>
                </a:ext>
              </a:extLst>
            </p:cNvPr>
            <p:cNvSpPr/>
            <p:nvPr/>
          </p:nvSpPr>
          <p:spPr>
            <a:xfrm>
              <a:off x="9345168" y="3203335"/>
              <a:ext cx="2846832" cy="10029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보안그룹 이름과 설명 작성</a:t>
              </a:r>
              <a:endParaRPr lang="en-US" altLang="ko-KR" sz="110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보안 그룹 규칙 추가</a:t>
              </a:r>
              <a:endParaRPr lang="en-US" altLang="ko-KR" sz="110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모든 </a:t>
              </a:r>
              <a:r>
                <a:rPr lang="en-US" altLang="ko-KR" sz="1100">
                  <a:solidFill>
                    <a:schemeClr val="tx1"/>
                  </a:solidFill>
                </a:rPr>
                <a:t>TCP </a:t>
              </a:r>
            </a:p>
            <a:p>
              <a:pPr algn="ctr"/>
              <a:r>
                <a:rPr lang="ko-KR" altLang="en-US" sz="1100">
                  <a:solidFill>
                    <a:schemeClr val="tx1"/>
                  </a:solidFill>
                </a:rPr>
                <a:t>위치 무관 </a:t>
              </a:r>
              <a:r>
                <a:rPr lang="en-US" altLang="ko-KR" sz="1100">
                  <a:solidFill>
                    <a:schemeClr val="tx1"/>
                  </a:solidFill>
                </a:rPr>
                <a:t>– </a:t>
              </a:r>
              <a:r>
                <a:rPr lang="ko-KR" altLang="en-US" sz="1100">
                  <a:solidFill>
                    <a:schemeClr val="tx1"/>
                  </a:solidFill>
                </a:rPr>
                <a:t>운영상에서는 허용된 </a:t>
              </a:r>
              <a:r>
                <a:rPr lang="en-US" altLang="ko-KR" sz="1100">
                  <a:solidFill>
                    <a:schemeClr val="tx1"/>
                  </a:solidFill>
                </a:rPr>
                <a:t>IP</a:t>
              </a:r>
              <a:r>
                <a:rPr lang="ko-KR" altLang="en-US" sz="1100">
                  <a:solidFill>
                    <a:schemeClr val="tx1"/>
                  </a:solidFill>
                </a:rPr>
                <a:t>만 접근가능하도록 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9160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8ABB6-A680-8C69-F00C-4C92EC8A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인스턴스 설정</a:t>
            </a:r>
            <a:r>
              <a:rPr lang="en-US" altLang="ko-KR"/>
              <a:t>(4)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7EC8B05-DF34-9341-053A-DE6EBC73D59E}"/>
              </a:ext>
            </a:extLst>
          </p:cNvPr>
          <p:cNvGrpSpPr/>
          <p:nvPr/>
        </p:nvGrpSpPr>
        <p:grpSpPr>
          <a:xfrm>
            <a:off x="444306" y="1837692"/>
            <a:ext cx="7483542" cy="3933112"/>
            <a:chOff x="1166682" y="1837692"/>
            <a:chExt cx="7483542" cy="393311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2107F0D-C9D6-CEAA-01CE-4078D3F2D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6682" y="1837692"/>
              <a:ext cx="7483542" cy="393311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C1919C5-AA9B-D9E6-F44A-92F19E322519}"/>
                </a:ext>
              </a:extLst>
            </p:cNvPr>
            <p:cNvSpPr/>
            <p:nvPr/>
          </p:nvSpPr>
          <p:spPr>
            <a:xfrm>
              <a:off x="7809871" y="1837692"/>
              <a:ext cx="388573" cy="3474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7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54C88E4-E48B-8218-72DF-92490C58E50B}"/>
              </a:ext>
            </a:extLst>
          </p:cNvPr>
          <p:cNvSpPr txBox="1"/>
          <p:nvPr/>
        </p:nvSpPr>
        <p:spPr>
          <a:xfrm>
            <a:off x="7927848" y="1837692"/>
            <a:ext cx="312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기본 설정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AC43005-5EF3-C246-EDBA-DEF29C089492}"/>
              </a:ext>
            </a:extLst>
          </p:cNvPr>
          <p:cNvGrpSpPr/>
          <p:nvPr/>
        </p:nvGrpSpPr>
        <p:grpSpPr>
          <a:xfrm>
            <a:off x="8276716" y="2568763"/>
            <a:ext cx="3162428" cy="3202041"/>
            <a:chOff x="8276716" y="2568763"/>
            <a:chExt cx="3162428" cy="3202041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E62FD57-8CDB-91C8-F08B-1701AD2913F0}"/>
                </a:ext>
              </a:extLst>
            </p:cNvPr>
            <p:cNvGrpSpPr/>
            <p:nvPr/>
          </p:nvGrpSpPr>
          <p:grpSpPr>
            <a:xfrm>
              <a:off x="8276716" y="2568763"/>
              <a:ext cx="3162428" cy="3202041"/>
              <a:chOff x="8276716" y="2568763"/>
              <a:chExt cx="3162428" cy="3202041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EBA3E379-C726-C789-7DAB-6D867FB631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76716" y="2568763"/>
                <a:ext cx="3162428" cy="32020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043033E-0E9D-759F-1DEF-242BDC0D830F}"/>
                  </a:ext>
                </a:extLst>
              </p:cNvPr>
              <p:cNvSpPr/>
              <p:nvPr/>
            </p:nvSpPr>
            <p:spPr>
              <a:xfrm>
                <a:off x="10561320" y="5166360"/>
                <a:ext cx="877824" cy="37490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89DE24-F364-60CF-ABDB-FE147919F21E}"/>
                </a:ext>
              </a:extLst>
            </p:cNvPr>
            <p:cNvSpPr txBox="1"/>
            <p:nvPr/>
          </p:nvSpPr>
          <p:spPr>
            <a:xfrm>
              <a:off x="9665208" y="4343400"/>
              <a:ext cx="1719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인스턴스 시작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9539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B7FB53-E31A-8EC1-97A7-32E00C50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실행 인스턴스 확인 및 연결</a:t>
            </a:r>
            <a:r>
              <a:rPr lang="en-US" altLang="ko-KR"/>
              <a:t>(1)</a:t>
            </a:r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023AC89-B3E4-ECF7-2621-9C9891CCE0CD}"/>
              </a:ext>
            </a:extLst>
          </p:cNvPr>
          <p:cNvGrpSpPr/>
          <p:nvPr/>
        </p:nvGrpSpPr>
        <p:grpSpPr>
          <a:xfrm>
            <a:off x="1097280" y="1896615"/>
            <a:ext cx="9807711" cy="2460383"/>
            <a:chOff x="1097280" y="1896615"/>
            <a:chExt cx="9807711" cy="246038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1338E99-D93C-D8CF-FF9E-E2F9C979F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96615"/>
              <a:ext cx="9807711" cy="24603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78A16B0-A181-2006-27CC-303D9B3965EA}"/>
                </a:ext>
              </a:extLst>
            </p:cNvPr>
            <p:cNvSpPr/>
            <p:nvPr/>
          </p:nvSpPr>
          <p:spPr>
            <a:xfrm>
              <a:off x="1097280" y="1896615"/>
              <a:ext cx="813816" cy="7551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CEC4858-40AB-3783-DBDA-423D3BACAAE9}"/>
                </a:ext>
              </a:extLst>
            </p:cNvPr>
            <p:cNvSpPr/>
            <p:nvPr/>
          </p:nvSpPr>
          <p:spPr>
            <a:xfrm>
              <a:off x="3361944" y="2651761"/>
              <a:ext cx="2535936" cy="4937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E58BF42C-C06B-CB26-32DF-64026C017B8A}"/>
                </a:ext>
              </a:extLst>
            </p:cNvPr>
            <p:cNvCxnSpPr>
              <a:endCxn id="8" idx="1"/>
            </p:cNvCxnSpPr>
            <p:nvPr/>
          </p:nvCxnSpPr>
          <p:spPr>
            <a:xfrm>
              <a:off x="1911096" y="2240280"/>
              <a:ext cx="1450848" cy="65836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8939BD0-2867-4CEF-BBF8-02F17035B964}"/>
              </a:ext>
            </a:extLst>
          </p:cNvPr>
          <p:cNvSpPr txBox="1"/>
          <p:nvPr/>
        </p:nvSpPr>
        <p:spPr>
          <a:xfrm>
            <a:off x="7123176" y="2084832"/>
            <a:ext cx="288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ec2 </a:t>
            </a:r>
            <a:r>
              <a:rPr lang="ko-KR" altLang="en-US" sz="1400"/>
              <a:t>대시보드에서 실행중인 </a:t>
            </a:r>
            <a:r>
              <a:rPr lang="en-US" altLang="ko-KR" sz="1400"/>
              <a:t>EC2</a:t>
            </a:r>
            <a:r>
              <a:rPr lang="ko-KR" altLang="en-US" sz="1400"/>
              <a:t>인스턴스 확인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43A3633-2CF3-C5C5-61CF-A5942875CE42}"/>
              </a:ext>
            </a:extLst>
          </p:cNvPr>
          <p:cNvGrpSpPr/>
          <p:nvPr/>
        </p:nvGrpSpPr>
        <p:grpSpPr>
          <a:xfrm>
            <a:off x="1097280" y="4747031"/>
            <a:ext cx="9807711" cy="1708486"/>
            <a:chOff x="1097280" y="4747031"/>
            <a:chExt cx="9807711" cy="170848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9F57B08-3C8A-7F8E-B85C-2774B51DC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4747031"/>
              <a:ext cx="9807711" cy="170848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CFCA611-1611-8EDE-B405-7DA511DF9DF7}"/>
                </a:ext>
              </a:extLst>
            </p:cNvPr>
            <p:cNvSpPr/>
            <p:nvPr/>
          </p:nvSpPr>
          <p:spPr>
            <a:xfrm>
              <a:off x="2478024" y="6007607"/>
              <a:ext cx="1277112" cy="3535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90B266B-AB09-1E67-0B89-EB02E3B461C7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136392" y="3145537"/>
            <a:ext cx="1493520" cy="28620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189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D2422E-0768-A2A3-C4C7-F75F24FA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실행 인스턴스 확인 및 연결</a:t>
            </a:r>
            <a:r>
              <a:rPr lang="en-US" altLang="ko-KR"/>
              <a:t>(1)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2D902C7-71D8-6BB2-CED5-D68CF4E5531B}"/>
              </a:ext>
            </a:extLst>
          </p:cNvPr>
          <p:cNvGrpSpPr/>
          <p:nvPr/>
        </p:nvGrpSpPr>
        <p:grpSpPr>
          <a:xfrm>
            <a:off x="297180" y="1995487"/>
            <a:ext cx="11597640" cy="672960"/>
            <a:chOff x="297180" y="1995487"/>
            <a:chExt cx="11597640" cy="67296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EF98CAA-6C96-F0DD-EAE1-C06C67932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180" y="1995487"/>
              <a:ext cx="11597640" cy="6729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63C9307-63D4-299F-F3AC-98EFAA375445}"/>
                </a:ext>
              </a:extLst>
            </p:cNvPr>
            <p:cNvSpPr/>
            <p:nvPr/>
          </p:nvSpPr>
          <p:spPr>
            <a:xfrm>
              <a:off x="8897112" y="1995487"/>
              <a:ext cx="685800" cy="43681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3458DFE-37C4-A658-FA96-2F8B1C36081A}"/>
              </a:ext>
            </a:extLst>
          </p:cNvPr>
          <p:cNvGrpSpPr/>
          <p:nvPr/>
        </p:nvGrpSpPr>
        <p:grpSpPr>
          <a:xfrm>
            <a:off x="297180" y="2754701"/>
            <a:ext cx="7662672" cy="4143833"/>
            <a:chOff x="297180" y="2754701"/>
            <a:chExt cx="7662672" cy="414383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AD4B24C4-C126-0CA3-D803-FEBE0DD9AB6E}"/>
                </a:ext>
              </a:extLst>
            </p:cNvPr>
            <p:cNvGrpSpPr/>
            <p:nvPr/>
          </p:nvGrpSpPr>
          <p:grpSpPr>
            <a:xfrm>
              <a:off x="297180" y="2754701"/>
              <a:ext cx="7662672" cy="4103299"/>
              <a:chOff x="297180" y="2754701"/>
              <a:chExt cx="7662672" cy="4103299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5BC0308D-0F56-BDC6-6DF5-C5C3775041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7180" y="2754701"/>
                <a:ext cx="7662672" cy="410329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01B9C20-4176-1CE2-A9BB-2E3C5AA704AD}"/>
                  </a:ext>
                </a:extLst>
              </p:cNvPr>
              <p:cNvSpPr/>
              <p:nvPr/>
            </p:nvSpPr>
            <p:spPr>
              <a:xfrm>
                <a:off x="297180" y="4169664"/>
                <a:ext cx="1924812" cy="6858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65612EF-B9DC-1B58-C4EE-F7333987426F}"/>
                </a:ext>
              </a:extLst>
            </p:cNvPr>
            <p:cNvSpPr/>
            <p:nvPr/>
          </p:nvSpPr>
          <p:spPr>
            <a:xfrm>
              <a:off x="7479792" y="6483096"/>
              <a:ext cx="480060" cy="4154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2E11D42-8B66-BD84-862F-C97F4D69E45E}"/>
              </a:ext>
            </a:extLst>
          </p:cNvPr>
          <p:cNvSpPr txBox="1"/>
          <p:nvPr/>
        </p:nvSpPr>
        <p:spPr>
          <a:xfrm>
            <a:off x="8037576" y="2834640"/>
            <a:ext cx="3857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기본적으로 퍼블릭</a:t>
            </a:r>
            <a:r>
              <a:rPr lang="en-US" altLang="ko-KR" sz="1400"/>
              <a:t>IP</a:t>
            </a:r>
            <a:r>
              <a:rPr lang="ko-KR" altLang="en-US" sz="1400"/>
              <a:t>에 </a:t>
            </a:r>
            <a:br>
              <a:rPr lang="en-US" altLang="ko-KR" sz="1400"/>
            </a:br>
            <a:r>
              <a:rPr lang="ko-KR" altLang="en-US" sz="1400"/>
              <a:t>웹브라우저 연결로 설정되어있음</a:t>
            </a:r>
          </a:p>
        </p:txBody>
      </p:sp>
    </p:spTree>
    <p:extLst>
      <p:ext uri="{BB962C8B-B14F-4D97-AF65-F5344CB8AC3E}">
        <p14:creationId xmlns:p14="http://schemas.microsoft.com/office/powerpoint/2010/main" val="3311960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AB189-19EA-BD30-0C91-E4677FEE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클라우드 </a:t>
            </a:r>
            <a:r>
              <a:rPr lang="en-US" altLang="ko-KR"/>
              <a:t>Ubuntu</a:t>
            </a:r>
            <a:r>
              <a:rPr lang="ko-KR" altLang="en-US"/>
              <a:t>서버 연결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0AEA98-17F7-114C-A151-D7ED936B8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808" y="1878974"/>
            <a:ext cx="5089120" cy="489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41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C34D0-0DE5-0E9D-55CB-AD10C26E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 </a:t>
            </a:r>
            <a:r>
              <a:rPr lang="ko-KR" altLang="en-US"/>
              <a:t>설치</a:t>
            </a:r>
            <a:r>
              <a:rPr lang="en-US" altLang="ko-KR"/>
              <a:t>/</a:t>
            </a:r>
            <a:r>
              <a:rPr lang="ko-KR" altLang="en-US"/>
              <a:t>실행하기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4A78B-17D9-9DBA-A410-37E08CD6A445}"/>
              </a:ext>
            </a:extLst>
          </p:cNvPr>
          <p:cNvSpPr txBox="1"/>
          <p:nvPr/>
        </p:nvSpPr>
        <p:spPr>
          <a:xfrm>
            <a:off x="1170432" y="1847088"/>
            <a:ext cx="10058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200"/>
              <a:t>sudo apt-get update</a:t>
            </a:r>
          </a:p>
          <a:p>
            <a:pPr marL="342900" indent="-342900">
              <a:buAutoNum type="arabicPeriod"/>
            </a:pPr>
            <a:r>
              <a:rPr lang="en-US" altLang="ko-KR" sz="1200"/>
              <a:t>sudo apt-get install openjdk-17-jdk</a:t>
            </a:r>
          </a:p>
          <a:p>
            <a:pPr marL="342900" indent="-342900">
              <a:buAutoNum type="arabicPeriod"/>
            </a:pPr>
            <a:r>
              <a:rPr lang="en-US" altLang="ko-KR" sz="1200"/>
              <a:t>java -version (java --version)</a:t>
            </a:r>
          </a:p>
          <a:p>
            <a:pPr marL="342900" indent="-342900">
              <a:buAutoNum type="arabicPeriod"/>
            </a:pPr>
            <a:r>
              <a:rPr lang="da-DK" altLang="ko-KR" sz="1200"/>
              <a:t>wget </a:t>
            </a:r>
            <a:r>
              <a:rPr lang="da-DK" altLang="ko-KR" sz="1200">
                <a:hlinkClick r:id="rId2"/>
              </a:rPr>
              <a:t>https://dlcdn.apache.org/kafka/4.1.2/kafka_2.13-4.1.2.tgz</a:t>
            </a:r>
            <a:endParaRPr lang="da-DK" altLang="ko-KR" sz="1200"/>
          </a:p>
          <a:p>
            <a:pPr marL="342900" indent="-342900">
              <a:buAutoNum type="arabicPeriod"/>
            </a:pPr>
            <a:r>
              <a:rPr lang="da-DK" altLang="ko-KR" sz="1200"/>
              <a:t>tar -xzf kafka_2.13-4.1.2.tgz</a:t>
            </a:r>
          </a:p>
          <a:p>
            <a:pPr marL="342900" indent="-342900">
              <a:buAutoNum type="arabicPeriod"/>
            </a:pPr>
            <a:r>
              <a:rPr lang="da-DK" altLang="ko-KR" sz="1200"/>
              <a:t>cd kafka_2.13-4.1.2</a:t>
            </a:r>
          </a:p>
          <a:p>
            <a:pPr marL="342900" indent="-342900">
              <a:buAutoNum type="arabicPeriod"/>
            </a:pPr>
            <a:r>
              <a:rPr lang="en-US" altLang="ko-KR" sz="1200"/>
              <a:t>export KAFKA_HEAP_OPTS= "-Xmx400m -Xms400m“ </a:t>
            </a:r>
            <a:br>
              <a:rPr lang="en-US" altLang="ko-KR" sz="1200"/>
            </a:br>
            <a:r>
              <a:rPr lang="en-US" altLang="ko-KR" sz="1200"/>
              <a:t>(</a:t>
            </a:r>
            <a:r>
              <a:rPr lang="ko-KR" altLang="en-US" sz="1200"/>
              <a:t>프리티어 플랜은 </a:t>
            </a:r>
            <a:r>
              <a:rPr lang="en-US" altLang="ko-KR" sz="1200"/>
              <a:t>Kafka</a:t>
            </a:r>
            <a:r>
              <a:rPr lang="ko-KR" altLang="en-US" sz="1200"/>
              <a:t>를 실행시키기엔 메모리가 부족함 </a:t>
            </a:r>
            <a:br>
              <a:rPr lang="en-US" altLang="ko-KR" sz="1200"/>
            </a:br>
            <a:r>
              <a:rPr lang="en-US" altLang="ko-KR" sz="1200">
                <a:sym typeface="Wingdings" panose="05000000000000000000" pitchFamily="2" charset="2"/>
              </a:rPr>
              <a:t> Kafka </a:t>
            </a:r>
            <a:r>
              <a:rPr lang="ko-KR" altLang="en-US" sz="1200">
                <a:sym typeface="Wingdings" panose="05000000000000000000" pitchFamily="2" charset="2"/>
              </a:rPr>
              <a:t>프로그램의 메모리크기를 낮춤</a:t>
            </a:r>
            <a:r>
              <a:rPr lang="en-US" altLang="ko-KR" sz="1200"/>
              <a:t>)</a:t>
            </a:r>
          </a:p>
          <a:p>
            <a:pPr marL="342900" indent="-342900">
              <a:buAutoNum type="arabicPeriod"/>
            </a:pPr>
            <a:endParaRPr lang="da-DK" altLang="ko-KR" sz="1200"/>
          </a:p>
          <a:p>
            <a:pPr marL="342900" indent="-342900">
              <a:buAutoNum type="arabicPeriod"/>
            </a:pPr>
            <a:endParaRPr lang="ko-KR" altLang="en-US" sz="12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253B8D6-812F-8896-7B60-031CC705D0D1}"/>
              </a:ext>
            </a:extLst>
          </p:cNvPr>
          <p:cNvGrpSpPr/>
          <p:nvPr/>
        </p:nvGrpSpPr>
        <p:grpSpPr>
          <a:xfrm>
            <a:off x="3730752" y="1737360"/>
            <a:ext cx="8330184" cy="4898779"/>
            <a:chOff x="3730752" y="1737360"/>
            <a:chExt cx="8330184" cy="489877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5D02952-8595-9A09-A55B-C66E5EF0C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752" y="3940677"/>
              <a:ext cx="3902152" cy="26954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732BA21-E954-C35E-6101-641B1281E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6519" y="1737360"/>
              <a:ext cx="4174417" cy="489877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0A562D6-DC6C-DC78-17D8-3A67ECAE4A5B}"/>
                </a:ext>
              </a:extLst>
            </p:cNvPr>
            <p:cNvSpPr/>
            <p:nvPr/>
          </p:nvSpPr>
          <p:spPr>
            <a:xfrm>
              <a:off x="7886519" y="5650992"/>
              <a:ext cx="1367209" cy="2651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72482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88878-42D0-2AD5-4F1A-E01BAA6C8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 </a:t>
            </a:r>
            <a:r>
              <a:rPr lang="ko-KR" altLang="en-US"/>
              <a:t>설치</a:t>
            </a:r>
            <a:r>
              <a:rPr lang="en-US" altLang="ko-KR"/>
              <a:t>/</a:t>
            </a:r>
            <a:r>
              <a:rPr lang="ko-KR" altLang="en-US"/>
              <a:t>실행하기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BEF31-3E83-47C3-07AE-8D4F512D3ECC}"/>
              </a:ext>
            </a:extLst>
          </p:cNvPr>
          <p:cNvSpPr txBox="1"/>
          <p:nvPr/>
        </p:nvSpPr>
        <p:spPr>
          <a:xfrm>
            <a:off x="1170432" y="1847088"/>
            <a:ext cx="10058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( </a:t>
            </a:r>
            <a:r>
              <a:rPr lang="ko-KR" altLang="en-US" sz="1200"/>
              <a:t>디스크 공간을 부족한 메모리 공간으로 활용 </a:t>
            </a:r>
            <a:r>
              <a:rPr lang="en-US" altLang="ko-KR" sz="1200"/>
              <a:t>)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200"/>
              <a:t>sudo dd if=/dev/zero of=/swapfile bs=128M count=16  </a:t>
            </a:r>
            <a:r>
              <a:rPr lang="en-US" altLang="ko-KR" sz="1200" b="1">
                <a:solidFill>
                  <a:srgbClr val="FF0000"/>
                </a:solidFill>
              </a:rPr>
              <a:t># 2GB </a:t>
            </a:r>
            <a:r>
              <a:rPr lang="ko-KR" altLang="en-US" sz="1200" b="1">
                <a:solidFill>
                  <a:srgbClr val="FF0000"/>
                </a:solidFill>
              </a:rPr>
              <a:t>짜리의 파일 생성</a:t>
            </a:r>
            <a:endParaRPr lang="en-US" altLang="ko-KR" sz="1200" b="1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200"/>
              <a:t>sudo chmod 600 /swapfile                                                   </a:t>
            </a:r>
            <a:r>
              <a:rPr lang="en-US" altLang="ko-KR" sz="1200" b="1">
                <a:solidFill>
                  <a:srgbClr val="FF0000"/>
                </a:solidFill>
              </a:rPr>
              <a:t># </a:t>
            </a:r>
            <a:r>
              <a:rPr lang="ko-KR" altLang="en-US" sz="1200" b="1">
                <a:solidFill>
                  <a:srgbClr val="FF0000"/>
                </a:solidFill>
              </a:rPr>
              <a:t>파일에 권한 부여 </a:t>
            </a:r>
            <a:endParaRPr lang="en-US" altLang="ko-KR" sz="1200" b="1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200"/>
              <a:t>sudo mkswap /swapfile                                                         </a:t>
            </a:r>
            <a:r>
              <a:rPr lang="en-US" altLang="ko-KR" sz="1200" b="1">
                <a:solidFill>
                  <a:srgbClr val="FF0000"/>
                </a:solidFill>
              </a:rPr>
              <a:t># 2GB </a:t>
            </a:r>
            <a:r>
              <a:rPr lang="ko-KR" altLang="en-US" sz="1200" b="1">
                <a:solidFill>
                  <a:srgbClr val="FF0000"/>
                </a:solidFill>
              </a:rPr>
              <a:t>짜리 파일을 </a:t>
            </a:r>
            <a:r>
              <a:rPr lang="en-US" altLang="ko-KR" sz="1200" b="1">
                <a:solidFill>
                  <a:srgbClr val="FF0000"/>
                </a:solidFill>
              </a:rPr>
              <a:t>swap </a:t>
            </a:r>
            <a:r>
              <a:rPr lang="ko-KR" altLang="en-US" sz="1200" b="1">
                <a:solidFill>
                  <a:srgbClr val="FF0000"/>
                </a:solidFill>
              </a:rPr>
              <a:t>공간의 형태로 전환</a:t>
            </a:r>
            <a:r>
              <a:rPr lang="ko-KR" altLang="en-US" sz="1200"/>
              <a:t> </a:t>
            </a:r>
            <a:endParaRPr lang="en-US" altLang="ko-KR" sz="1200"/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200"/>
              <a:t>sudo swapon /swapfile 					   </a:t>
            </a:r>
            <a:r>
              <a:rPr lang="en-US" altLang="ko-KR" sz="1200" b="1">
                <a:solidFill>
                  <a:srgbClr val="FF0000"/>
                </a:solidFill>
              </a:rPr>
              <a:t># swap </a:t>
            </a:r>
            <a:r>
              <a:rPr lang="ko-KR" altLang="en-US" sz="1200" b="1">
                <a:solidFill>
                  <a:srgbClr val="FF0000"/>
                </a:solidFill>
              </a:rPr>
              <a:t>활성화</a:t>
            </a:r>
            <a:endParaRPr lang="en-US" altLang="ko-KR" sz="1200" b="1">
              <a:solidFill>
                <a:srgbClr val="FF0000"/>
              </a:solidFill>
            </a:endParaRPr>
          </a:p>
          <a:p>
            <a:r>
              <a:rPr lang="da-DK" altLang="ko-KR" sz="1200"/>
              <a:t>( </a:t>
            </a:r>
            <a:r>
              <a:rPr lang="ko-KR" altLang="en-US" sz="1200"/>
              <a:t>시스템 부팅 시 마다 자동으로 활성화 하도록 등록</a:t>
            </a:r>
            <a:r>
              <a:rPr lang="da-DK" altLang="ko-KR" sz="1200"/>
              <a:t>)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US" altLang="ko-KR" sz="1200"/>
              <a:t>sudo</a:t>
            </a:r>
            <a:r>
              <a:rPr lang="ko-KR" altLang="en-US" sz="1200"/>
              <a:t> </a:t>
            </a:r>
            <a:r>
              <a:rPr lang="en-US" altLang="ko-KR" sz="1200"/>
              <a:t>vi</a:t>
            </a:r>
            <a:r>
              <a:rPr lang="ko-KR" altLang="en-US" sz="1200"/>
              <a:t> </a:t>
            </a:r>
            <a:r>
              <a:rPr lang="en-US" altLang="ko-KR" sz="1200"/>
              <a:t>/etc/fstab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US" altLang="ko-KR" sz="1200"/>
              <a:t>/swapfile swap swap defaults 0 0                                        </a:t>
            </a:r>
            <a:r>
              <a:rPr lang="en-US" altLang="ko-KR" sz="1200" b="1">
                <a:solidFill>
                  <a:srgbClr val="FF0000"/>
                </a:solidFill>
              </a:rPr>
              <a:t># </a:t>
            </a:r>
            <a:r>
              <a:rPr lang="ko-KR" altLang="en-US" sz="1200" b="1">
                <a:solidFill>
                  <a:srgbClr val="FF0000"/>
                </a:solidFill>
              </a:rPr>
              <a:t>최하단에  </a:t>
            </a:r>
            <a:r>
              <a:rPr lang="en-US" altLang="ko-KR" sz="1200" b="1">
                <a:solidFill>
                  <a:srgbClr val="FF0000"/>
                </a:solidFill>
              </a:rPr>
              <a:t>13. </a:t>
            </a:r>
            <a:r>
              <a:rPr lang="ko-KR" altLang="en-US" sz="1200" b="1">
                <a:solidFill>
                  <a:srgbClr val="FF0000"/>
                </a:solidFill>
              </a:rPr>
              <a:t>명령어 추가</a:t>
            </a:r>
            <a:endParaRPr lang="en-US" altLang="ko-KR" sz="1200" b="1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 startAt="12"/>
            </a:pPr>
            <a:r>
              <a:rPr lang="en-US" altLang="ko-KR" sz="1200"/>
              <a:t>free                                                                                           #  swap </a:t>
            </a:r>
            <a:r>
              <a:rPr lang="ko-KR" altLang="en-US" sz="1200"/>
              <a:t>메모리가 잘성정되었는지 확인</a:t>
            </a:r>
            <a:endParaRPr lang="en-US" altLang="ko-KR" sz="1200"/>
          </a:p>
          <a:p>
            <a:endParaRPr lang="da-DK" altLang="ko-KR" sz="1200" b="1">
              <a:solidFill>
                <a:srgbClr val="FF0000"/>
              </a:solidFill>
            </a:endParaRPr>
          </a:p>
          <a:p>
            <a:pPr marL="342900" indent="-342900">
              <a:buAutoNum type="arabicPeriod" startAt="12"/>
            </a:pPr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BDFFF0-DEE3-523E-AEF0-373AC1957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3604157"/>
            <a:ext cx="6430272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388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4ABC4-5D7B-0B67-083B-D6F85BAC8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5C0CC-ED28-ED7A-3B16-05FDD63D6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 </a:t>
            </a:r>
            <a:r>
              <a:rPr lang="ko-KR" altLang="en-US"/>
              <a:t>설치</a:t>
            </a:r>
            <a:r>
              <a:rPr lang="en-US" altLang="ko-KR"/>
              <a:t>/</a:t>
            </a:r>
            <a:r>
              <a:rPr lang="ko-KR" altLang="en-US"/>
              <a:t>실행하기</a:t>
            </a:r>
            <a:r>
              <a:rPr lang="en-US" altLang="ko-KR"/>
              <a:t>(3)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A079E4-34FA-9CE8-3E0C-D3212BB830EA}"/>
              </a:ext>
            </a:extLst>
          </p:cNvPr>
          <p:cNvSpPr txBox="1"/>
          <p:nvPr/>
        </p:nvSpPr>
        <p:spPr>
          <a:xfrm>
            <a:off x="1170432" y="1847088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( Kafka </a:t>
            </a:r>
            <a:r>
              <a:rPr lang="ko-KR" altLang="en-US" sz="1200"/>
              <a:t>설정 변경 </a:t>
            </a:r>
            <a:r>
              <a:rPr lang="en-US" altLang="ko-KR" sz="1200"/>
              <a:t>~/Kafka_2.13-4.1.2 </a:t>
            </a:r>
            <a:r>
              <a:rPr lang="ko-KR" altLang="en-US" sz="1200"/>
              <a:t>위치에서 진행</a:t>
            </a:r>
            <a:r>
              <a:rPr lang="en-US" altLang="ko-KR" sz="1200"/>
              <a:t>)</a:t>
            </a:r>
          </a:p>
          <a:p>
            <a:pPr marL="342900" indent="-342900">
              <a:buFont typeface="+mj-lt"/>
              <a:buAutoNum type="arabicPeriod" startAt="15"/>
            </a:pPr>
            <a:r>
              <a:rPr lang="en-US" altLang="ko-KR" sz="1200"/>
              <a:t>vi config/server.properties</a:t>
            </a:r>
          </a:p>
          <a:p>
            <a:pPr marL="342900" indent="-342900">
              <a:buFont typeface="+mj-lt"/>
              <a:buAutoNum type="arabicPeriod" startAt="15"/>
            </a:pPr>
            <a:r>
              <a:rPr lang="ko-KR" altLang="en-US" sz="1200"/>
              <a:t>클라이언트가 외부로 접근할 때</a:t>
            </a:r>
            <a:r>
              <a:rPr lang="en-US" altLang="ko-KR" sz="1200"/>
              <a:t>, </a:t>
            </a:r>
            <a:r>
              <a:rPr lang="ko-KR" altLang="en-US" sz="1200"/>
              <a:t>사용하는 주소 변경 </a:t>
            </a:r>
            <a:r>
              <a:rPr lang="en-US" altLang="ko-KR" sz="1200"/>
              <a:t>( //43.200.183.198:9092 , //43.200.183.198:9093 )</a:t>
            </a:r>
            <a:r>
              <a:rPr lang="ko-KR" altLang="en-US" sz="1200"/>
              <a:t> </a:t>
            </a:r>
            <a:endParaRPr lang="en-US" altLang="ko-KR" sz="1200"/>
          </a:p>
          <a:p>
            <a:endParaRPr lang="da-DK" altLang="ko-KR" sz="1200" b="1">
              <a:solidFill>
                <a:srgbClr val="FF0000"/>
              </a:solidFill>
            </a:endParaRPr>
          </a:p>
          <a:p>
            <a:pPr marL="342900" indent="-342900">
              <a:buAutoNum type="arabicPeriod" startAt="12"/>
            </a:pPr>
            <a:endParaRPr lang="ko-KR" altLang="en-US" sz="12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F065F37-4CA0-78B9-E0A4-81C0ABD9C67F}"/>
              </a:ext>
            </a:extLst>
          </p:cNvPr>
          <p:cNvGrpSpPr/>
          <p:nvPr/>
        </p:nvGrpSpPr>
        <p:grpSpPr>
          <a:xfrm>
            <a:off x="1170432" y="2543619"/>
            <a:ext cx="7744906" cy="1672633"/>
            <a:chOff x="1170432" y="2543619"/>
            <a:chExt cx="7744906" cy="167263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8B421E0-255C-9F68-4F46-C1A2A630B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0432" y="2543619"/>
              <a:ext cx="7744906" cy="638264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20D9BE0-C93D-1753-40B6-4999944CD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0433" y="3181883"/>
              <a:ext cx="4617720" cy="10343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6750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C9A53-D560-7025-756F-A2B86B21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2366FB-D29B-7261-59DA-3F4D0161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 </a:t>
            </a:r>
            <a:r>
              <a:rPr lang="ko-KR" altLang="en-US"/>
              <a:t>설치</a:t>
            </a:r>
            <a:r>
              <a:rPr lang="en-US" altLang="ko-KR"/>
              <a:t>/</a:t>
            </a:r>
            <a:r>
              <a:rPr lang="ko-KR" altLang="en-US"/>
              <a:t>실행하기</a:t>
            </a:r>
            <a:r>
              <a:rPr lang="en-US" altLang="ko-KR"/>
              <a:t>(4)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F2E0F-AEFB-7F51-8AE2-B018E850A01C}"/>
              </a:ext>
            </a:extLst>
          </p:cNvPr>
          <p:cNvSpPr txBox="1"/>
          <p:nvPr/>
        </p:nvSpPr>
        <p:spPr>
          <a:xfrm>
            <a:off x="1197864" y="1862416"/>
            <a:ext cx="100584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( Kafka </a:t>
            </a:r>
            <a:r>
              <a:rPr lang="ko-KR" altLang="en-US" sz="1200"/>
              <a:t>로그 폴더 설정</a:t>
            </a:r>
            <a:r>
              <a:rPr lang="en-US" altLang="ko-KR" sz="1200"/>
              <a:t>)</a:t>
            </a:r>
          </a:p>
          <a:p>
            <a:pPr marL="342900" indent="-342900">
              <a:buFont typeface="+mj-lt"/>
              <a:buAutoNum type="arabicPeriod" startAt="17"/>
            </a:pPr>
            <a:r>
              <a:rPr lang="en-US" altLang="ko-KR" sz="1200"/>
              <a:t>KAFKA_CLUSTER_ID="$(bin/kafka-storage.sh random-uuid)"</a:t>
            </a:r>
          </a:p>
          <a:p>
            <a:pPr marL="342900" indent="-342900">
              <a:buFont typeface="+mj-lt"/>
              <a:buAutoNum type="arabicPeriod" startAt="17"/>
            </a:pPr>
            <a:r>
              <a:rPr lang="en-US" altLang="ko-KR" sz="1200"/>
              <a:t>bin/kafka-storage.sh format --standalone -t $KAFKA_CLUSTER_ID -c config/server.properties</a:t>
            </a:r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(</a:t>
            </a:r>
            <a:r>
              <a:rPr lang="ko-KR" altLang="en-US" sz="1200"/>
              <a:t>카프카 서버 실행</a:t>
            </a:r>
            <a:r>
              <a:rPr lang="en-US" altLang="ko-KR" sz="1200"/>
              <a:t>)</a:t>
            </a:r>
          </a:p>
          <a:p>
            <a:pPr marL="342900" indent="-342900">
              <a:buFont typeface="+mj-lt"/>
              <a:buAutoNum type="arabicPeriod" startAt="19"/>
            </a:pPr>
            <a:r>
              <a:rPr lang="en-US" altLang="ko-KR" sz="1200"/>
              <a:t>cd ~/kafka_2.13-4.1.2</a:t>
            </a:r>
          </a:p>
          <a:p>
            <a:pPr marL="342900" indent="-342900">
              <a:buFont typeface="+mj-lt"/>
              <a:buAutoNum type="arabicPeriod" startAt="19"/>
            </a:pPr>
            <a:r>
              <a:rPr lang="en-US" altLang="ko-KR" sz="1200"/>
              <a:t>bin/kafka-server-start.sh config/server.properties  # </a:t>
            </a:r>
            <a:r>
              <a:rPr lang="ko-KR" altLang="en-US" sz="1200"/>
              <a:t>포그라운드에서 실행 명령</a:t>
            </a:r>
            <a:br>
              <a:rPr lang="en-US" altLang="ko-KR" sz="1200"/>
            </a:br>
            <a:r>
              <a:rPr lang="en-US" altLang="ko-KR" sz="1200"/>
              <a:t>(</a:t>
            </a:r>
            <a:r>
              <a:rPr lang="ko-KR" altLang="en-US" sz="1200"/>
              <a:t>의미 </a:t>
            </a:r>
            <a:r>
              <a:rPr lang="en-US" altLang="ko-KR" sz="1200"/>
              <a:t>: kafka-server-start.sh </a:t>
            </a:r>
            <a:r>
              <a:rPr lang="ko-KR" altLang="en-US" sz="1200"/>
              <a:t>스크립트를 </a:t>
            </a:r>
            <a:r>
              <a:rPr lang="en-US" altLang="ko-KR" sz="1200"/>
              <a:t>config/server.properties </a:t>
            </a:r>
            <a:r>
              <a:rPr lang="ko-KR" altLang="en-US" sz="1200"/>
              <a:t>내 정의된 파라미터를 전달하여 실행한다</a:t>
            </a:r>
            <a:r>
              <a:rPr lang="en-US" altLang="ko-KR" sz="1200"/>
              <a:t>.)</a:t>
            </a:r>
          </a:p>
          <a:p>
            <a:pPr marL="342900" indent="-342900">
              <a:buFont typeface="+mj-lt"/>
              <a:buAutoNum type="arabicPeriod" startAt="19"/>
            </a:pPr>
            <a:r>
              <a:rPr lang="en-US" altLang="ko-KR" sz="1200"/>
              <a:t>bin/kafka-server-start.sh -daemon config/server.properties  # </a:t>
            </a:r>
            <a:r>
              <a:rPr lang="ko-KR" altLang="en-US" sz="1200"/>
              <a:t>백그라운드 실행 명령</a:t>
            </a:r>
            <a:endParaRPr lang="en-US" altLang="ko-KR" sz="1200"/>
          </a:p>
          <a:p>
            <a:pPr marL="342900" indent="-342900">
              <a:buFont typeface="+mj-lt"/>
              <a:buAutoNum type="arabicPeriod" startAt="19"/>
            </a:pPr>
            <a:r>
              <a:rPr lang="en-US" altLang="ko-KR" sz="1200"/>
              <a:t>tail</a:t>
            </a:r>
            <a:r>
              <a:rPr lang="ko-KR" altLang="en-US" sz="1200"/>
              <a:t> </a:t>
            </a:r>
            <a:r>
              <a:rPr lang="en-US" altLang="ko-KR" sz="1200"/>
              <a:t>-f</a:t>
            </a:r>
            <a:r>
              <a:rPr lang="ko-KR" altLang="en-US" sz="1200"/>
              <a:t> </a:t>
            </a:r>
            <a:r>
              <a:rPr lang="en-US" altLang="ko-KR" sz="1200"/>
              <a:t>logs/kafkaServer.out   ( ~/kafka_2.13-4.1.2/logs/kafkaServer.out    </a:t>
            </a:r>
            <a:r>
              <a:rPr lang="ko-KR" altLang="en-US" sz="1200"/>
              <a:t>카프카 로그</a:t>
            </a:r>
            <a:r>
              <a:rPr lang="en-US" altLang="ko-KR" sz="1200"/>
              <a:t>) </a:t>
            </a:r>
          </a:p>
          <a:p>
            <a:pPr marL="342900" indent="-342900">
              <a:buFont typeface="+mj-lt"/>
              <a:buAutoNum type="arabicPeriod" startAt="19"/>
            </a:pPr>
            <a:r>
              <a:rPr lang="en-US" altLang="ko-KR" sz="1200"/>
              <a:t>Kafka </a:t>
            </a:r>
            <a:r>
              <a:rPr lang="ko-KR" altLang="en-US" sz="1200"/>
              <a:t>서버는 기본적으로 </a:t>
            </a:r>
            <a:r>
              <a:rPr lang="en-US" altLang="ko-KR" sz="1200"/>
              <a:t>9092</a:t>
            </a:r>
            <a:r>
              <a:rPr lang="ko-KR" altLang="en-US" sz="1200"/>
              <a:t>에서 실행 포트 확인 명령어를 통해 잘 동작하고 있는지 확인</a:t>
            </a:r>
            <a:br>
              <a:rPr lang="en-US" altLang="ko-KR" sz="1200"/>
            </a:br>
            <a:r>
              <a:rPr lang="en-US" altLang="ko-KR" sz="1200"/>
              <a:t>( sudo</a:t>
            </a:r>
            <a:r>
              <a:rPr lang="ko-KR" altLang="en-US" sz="1200"/>
              <a:t> </a:t>
            </a:r>
            <a:r>
              <a:rPr lang="en-US" altLang="ko-KR" sz="1200"/>
              <a:t>lsof</a:t>
            </a:r>
            <a:r>
              <a:rPr lang="ko-KR" altLang="en-US" sz="1200"/>
              <a:t> </a:t>
            </a:r>
            <a:r>
              <a:rPr lang="en-US" altLang="ko-KR" sz="1200"/>
              <a:t>–i:9092 )</a:t>
            </a:r>
            <a:br>
              <a:rPr lang="en-US" altLang="ko-KR" sz="1200"/>
            </a:br>
            <a:br>
              <a:rPr lang="en-US" altLang="ko-KR" sz="1200"/>
            </a:br>
            <a:br>
              <a:rPr lang="en-US" altLang="ko-KR" sz="1200"/>
            </a:br>
            <a:br>
              <a:rPr lang="en-US" altLang="ko-KR" sz="1200"/>
            </a:br>
            <a:endParaRPr lang="en-US" altLang="ko-KR" sz="1200"/>
          </a:p>
          <a:p>
            <a:pPr marL="342900" indent="-342900">
              <a:buFont typeface="+mj-lt"/>
              <a:buAutoNum type="arabicPeriod" startAt="19"/>
            </a:pPr>
            <a:r>
              <a:rPr lang="ko-KR" altLang="en-US" sz="1200"/>
              <a:t>백그라운드 실행 종료 </a:t>
            </a:r>
            <a:br>
              <a:rPr lang="en-US" altLang="ko-KR" sz="1200"/>
            </a:br>
            <a:r>
              <a:rPr lang="en-US" altLang="ko-KR" sz="1200"/>
              <a:t>( bin/kafka-server-stop.sh     [~/kafka_2.13-4.1.2/bin/kafka-server-stop.sh])</a:t>
            </a:r>
            <a:br>
              <a:rPr lang="en-US" altLang="ko-KR" sz="1200"/>
            </a:br>
            <a:endParaRPr lang="en-US" altLang="ko-KR" sz="1200"/>
          </a:p>
          <a:p>
            <a:endParaRPr lang="da-DK" altLang="ko-KR" sz="1200" b="1">
              <a:solidFill>
                <a:srgbClr val="FF0000"/>
              </a:solidFill>
            </a:endParaRPr>
          </a:p>
          <a:p>
            <a:pPr marL="342900" indent="-342900">
              <a:buAutoNum type="arabicPeriod" startAt="12"/>
            </a:pPr>
            <a:endParaRPr lang="ko-KR" altLang="en-US" sz="120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BFE5501-E9A5-7F3E-33D0-592EF6E8B274}"/>
              </a:ext>
            </a:extLst>
          </p:cNvPr>
          <p:cNvGrpSpPr/>
          <p:nvPr/>
        </p:nvGrpSpPr>
        <p:grpSpPr>
          <a:xfrm>
            <a:off x="215636" y="2549707"/>
            <a:ext cx="11760728" cy="420025"/>
            <a:chOff x="320040" y="2644358"/>
            <a:chExt cx="11760728" cy="42002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679BC79-7F6C-7130-3FEB-559F3F77B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040" y="2644358"/>
              <a:ext cx="11760728" cy="420025"/>
            </a:xfrm>
            <a:prstGeom prst="rect">
              <a:avLst/>
            </a:prstGeom>
          </p:spPr>
        </p:pic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7A2796A3-4B71-333F-1C55-095A7421B49D}"/>
                </a:ext>
              </a:extLst>
            </p:cNvPr>
            <p:cNvCxnSpPr/>
            <p:nvPr/>
          </p:nvCxnSpPr>
          <p:spPr>
            <a:xfrm>
              <a:off x="3026664" y="2816352"/>
              <a:ext cx="1975104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7E988B8A-3A2D-B778-17D3-C2106BF6F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695" y="4873001"/>
            <a:ext cx="5782482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640001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120</TotalTime>
  <Words>693</Words>
  <Application>Microsoft Office PowerPoint</Application>
  <PresentationFormat>와이드스크린</PresentationFormat>
  <Paragraphs>80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Calibri</vt:lpstr>
      <vt:lpstr>Calibri Light</vt:lpstr>
      <vt:lpstr>Wingdings</vt:lpstr>
      <vt:lpstr>추억</vt:lpstr>
      <vt:lpstr>Kafka 개요</vt:lpstr>
      <vt:lpstr>KafKa 정의</vt:lpstr>
      <vt:lpstr>Rest API VS Kafka </vt:lpstr>
      <vt:lpstr>EC2 서버 설정</vt:lpstr>
      <vt:lpstr>EC2 인스턴스 생성 지역 확인 및 인스턴스 시작</vt:lpstr>
      <vt:lpstr>인스턴스 설정(1)</vt:lpstr>
      <vt:lpstr>인스턴스 설정(2)</vt:lpstr>
      <vt:lpstr>인스턴스 설정(3)</vt:lpstr>
      <vt:lpstr>인스턴스 설정(4)</vt:lpstr>
      <vt:lpstr>실행 인스턴스 확인 및 연결(1)</vt:lpstr>
      <vt:lpstr>실행 인스턴스 확인 및 연결(1)</vt:lpstr>
      <vt:lpstr>클라우드 Ubuntu서버 연결 확인</vt:lpstr>
      <vt:lpstr>Kafka 설치/실행하기(1)</vt:lpstr>
      <vt:lpstr>Kafka 설치/실행하기(2)</vt:lpstr>
      <vt:lpstr>Kafka 설치/실행하기(3)</vt:lpstr>
      <vt:lpstr>Kafka 설치/실행하기(4)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36</cp:revision>
  <dcterms:created xsi:type="dcterms:W3CDTF">2026-08-11T03:43:41Z</dcterms:created>
  <dcterms:modified xsi:type="dcterms:W3CDTF">2026-08-12T06:00:25Z</dcterms:modified>
</cp:coreProperties>
</file>